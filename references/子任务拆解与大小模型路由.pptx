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73" r:id="rId9"/>
    <p:sldId id="267" r:id="rId10"/>
    <p:sldId id="274" r:id="rId11"/>
    <p:sldId id="269" r:id="rId12"/>
    <p:sldId id="270" r:id="rId13"/>
    <p:sldId id="272" r:id="rId14"/>
  </p:sldIdLst>
  <p:sldSz cx="12192000" cy="6858000"/>
  <p:notesSz cx="12192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B3BA7496-503A-40E8-A7BD-C05738AFC27F}">
          <p14:sldIdLst>
            <p14:sldId id="256"/>
            <p14:sldId id="257"/>
          </p14:sldIdLst>
        </p14:section>
        <p14:section name="背景" id="{2A0B458E-BA61-4FEF-B942-5867F324F1B0}">
          <p14:sldIdLst>
            <p14:sldId id="258"/>
            <p14:sldId id="259"/>
            <p14:sldId id="260"/>
          </p14:sldIdLst>
        </p14:section>
        <p14:section name="相关工作" id="{A83AF6CA-5920-4AB3-AEFE-3D4FD5C8F37E}">
          <p14:sldIdLst>
            <p14:sldId id="262"/>
          </p14:sldIdLst>
        </p14:section>
        <p14:section name="具体工作" id="{5FCE88F2-DEF8-4E72-88FD-43858472BFC6}">
          <p14:sldIdLst>
            <p14:sldId id="263"/>
            <p14:sldId id="273"/>
            <p14:sldId id="267"/>
          </p14:sldIdLst>
        </p14:section>
        <p14:section name="计划" id="{E1C6D172-4F50-4585-837F-AFF7059F5D43}">
          <p14:sldIdLst>
            <p14:sldId id="274"/>
            <p14:sldId id="269"/>
            <p14:sldId id="270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一博 苏" initials="一苏" lastIdx="1" clrIdx="0">
    <p:extLst>
      <p:ext uri="{19B8F6BF-5375-455C-9EA6-DF929625EA0E}">
        <p15:presenceInfo xmlns:p15="http://schemas.microsoft.com/office/powerpoint/2012/main" userId="56e83e55e403ee1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82" autoAdjust="0"/>
    <p:restoredTop sz="80048" autoAdjust="0"/>
  </p:normalViewPr>
  <p:slideViewPr>
    <p:cSldViewPr snapToGrid="0" snapToObjects="1">
      <p:cViewPr varScale="1">
        <p:scale>
          <a:sx n="84" d="100"/>
          <a:sy n="84" d="100"/>
        </p:scale>
        <p:origin x="3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14" d="100"/>
          <a:sy n="114" d="100"/>
        </p:scale>
        <p:origin x="696" y="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07DCCF-5F2D-40A5-B5FC-3596697303EB}" type="datetimeFigureOut">
              <a:rPr lang="zh-CN" altLang="en-US" smtClean="0"/>
              <a:t>2026/8/13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6E7B18-4926-4E3C-99FF-608205E685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1633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6E7B18-4926-4E3C-99FF-608205E6852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07298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 err="1"/>
              <a:t>RouteGoT</a:t>
            </a:r>
            <a:r>
              <a:rPr lang="zh-CN" altLang="en-US" dirty="0"/>
              <a:t>提供了子任务级路由的直接参考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、可以把</a:t>
            </a:r>
            <a:r>
              <a:rPr lang="en-US" altLang="zh-CN" dirty="0" err="1"/>
              <a:t>RouteLLM</a:t>
            </a:r>
            <a:r>
              <a:rPr lang="zh-CN" altLang="en-US" dirty="0"/>
              <a:t>的“整题路由”下沉到“子任务路由”，使用大小模型对子任务的真实完成情况构造复杂度标签。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en-US" altLang="zh-CN" dirty="0" err="1"/>
              <a:t>Agentix</a:t>
            </a:r>
            <a:r>
              <a:rPr lang="zh-CN" altLang="en-US" dirty="0"/>
              <a:t>为“动态图、负载、关键路径”提供了系统侧依据，不研究完整的智能体调度系统，而是研究负载变化是否应反向影响任务拆解粒度，以及关键路径节点是否应采用更保守的模型路由。</a:t>
            </a:r>
            <a:endParaRPr lang="en-US" altLang="zh-CN" dirty="0"/>
          </a:p>
          <a:p>
            <a:r>
              <a:rPr lang="en-US" altLang="zh-CN" dirty="0"/>
              <a:t>4</a:t>
            </a:r>
            <a:r>
              <a:rPr lang="zh-CN" altLang="en-US" dirty="0"/>
              <a:t>、说明任务结构、模型能力和系统状态不应彼此割裂，支持本课题把服务负载作为动态拆解和路由的输入。不过，</a:t>
            </a:r>
            <a:r>
              <a:rPr lang="en-US" altLang="zh-CN" dirty="0" err="1"/>
              <a:t>Murakkab</a:t>
            </a:r>
            <a:r>
              <a:rPr lang="zh-CN" altLang="en-US" dirty="0"/>
              <a:t>更偏向对已有工作流配置进行系统优化，本课题要进一步研究开放用户问题如何生成不同粒度的子任务图。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6E7B18-4926-4E3C-99FF-608205E6852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37699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根据不同的任务先设定预先的拆解方案（粗粒度）</a:t>
            </a:r>
            <a:endParaRPr lang="en-US" altLang="zh-CN" dirty="0"/>
          </a:p>
          <a:p>
            <a:r>
              <a:rPr lang="zh-CN" altLang="en-US" dirty="0"/>
              <a:t>实际不是这么简单，应该是下一页所展示的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6E7B18-4926-4E3C-99FF-608205E6852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26775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这是一张实际问题的动态图案例：</a:t>
            </a:r>
          </a:p>
          <a:p>
            <a:pPr lvl="0"/>
            <a:r>
              <a:rPr lang="zh-CN" altLang="zh-CN" dirty="0"/>
              <a:t>原始问题先被拆成多个节点；节点之间存在依赖关系；简单节点分配给小模型；中等节点分配给中模型；困难拆解、规划和最终综合交给大模型；部分复杂节点还会继续拆解。</a:t>
            </a:r>
            <a:br>
              <a:rPr lang="en-US" altLang="zh-CN" dirty="0"/>
            </a:br>
            <a:br>
              <a:rPr lang="en-US" altLang="zh-CN" dirty="0"/>
            </a:br>
            <a:r>
              <a:rPr lang="zh-CN" altLang="zh-CN" dirty="0"/>
              <a:t>这张图非常简洁地展示：</a:t>
            </a:r>
          </a:p>
          <a:p>
            <a:pPr lvl="0"/>
            <a:r>
              <a:rPr lang="zh-CN" altLang="zh-CN" dirty="0"/>
              <a:t>多个子任务形成DAG；部分节点可以并行；不同节点具有不同执行时间；关键路径决定整个任务的完成时间；调度顺序不同，最终时延也不同。</a:t>
            </a:r>
          </a:p>
          <a:p>
            <a:r>
              <a:rPr lang="zh-CN" altLang="zh-CN" dirty="0"/>
              <a:t>它可以支撑你提出的设计：路由时不能只看节点本身的复杂度，还要看节点是否位于关键路径上。关键路径上的边界节点应更谨慎地交给小模型。</a:t>
            </a:r>
          </a:p>
          <a:p>
            <a:pPr lvl="0"/>
            <a:endParaRPr lang="zh-CN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6E7B18-4926-4E3C-99FF-608205E6852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42450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/>
              <a:t>满</a:t>
            </a:r>
            <a:r>
              <a:rPr lang="zh-CN" altLang="zh-CN" dirty="0"/>
              <a:t>足以下任意条件时，通常应停止：</a:t>
            </a:r>
          </a:p>
          <a:p>
            <a:pPr lvl="0"/>
            <a:r>
              <a:rPr lang="zh-CN" altLang="zh-CN" dirty="0"/>
              <a:t>小模型已经能够稳定完成；</a:t>
            </a:r>
          </a:p>
          <a:p>
            <a:pPr lvl="0"/>
            <a:r>
              <a:rPr lang="zh-CN" altLang="zh-CN" dirty="0"/>
              <a:t>子任务已经具有单一、清晰的输出；</a:t>
            </a:r>
          </a:p>
          <a:p>
            <a:pPr lvl="0"/>
            <a:r>
              <a:rPr lang="zh-CN" altLang="zh-CN" dirty="0"/>
              <a:t>继续拆解不能减少大模型调用；</a:t>
            </a:r>
          </a:p>
          <a:p>
            <a:pPr lvl="0"/>
            <a:r>
              <a:rPr lang="zh-CN" altLang="zh-CN" dirty="0"/>
              <a:t>子任务内部步骤高度耦合；</a:t>
            </a:r>
          </a:p>
          <a:p>
            <a:pPr lvl="0"/>
            <a:r>
              <a:rPr lang="zh-CN" altLang="zh-CN" dirty="0"/>
              <a:t>继续拆解会产生过长的串行路径；</a:t>
            </a:r>
          </a:p>
          <a:p>
            <a:pPr lvl="0"/>
            <a:r>
              <a:rPr lang="zh-CN" altLang="zh-CN" dirty="0"/>
              <a:t>需要为每个微小节点重复传递大量上下文；</a:t>
            </a:r>
          </a:p>
          <a:p>
            <a:pPr lvl="0"/>
            <a:r>
              <a:rPr lang="zh-CN" altLang="zh-CN" dirty="0"/>
              <a:t>新增调用成本超过预计节省；</a:t>
            </a:r>
          </a:p>
          <a:p>
            <a:pPr lvl="0"/>
            <a:r>
              <a:rPr lang="zh-CN" altLang="zh-CN" dirty="0"/>
              <a:t>拆解容易破坏全局语义。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6E7B18-4926-4E3C-99FF-608205E6852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64616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1C68F-5ADA-3FF9-AB41-9766F6D28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FB16751-4D0D-F359-7278-251F709F86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C44A2EE-637E-76BE-9222-96E3D5008D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DBFA42-5CBA-4948-BF17-EDC4E19B7A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6E7B18-4926-4E3C-99FF-608205E68524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13408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6E7B18-4926-4E3C-99FF-608205E68524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69737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6E7B18-4926-4E3C-99FF-608205E68524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3502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q-00"/>
          <p:cNvSpPr/>
          <p:nvPr/>
        </p:nvSpPr>
        <p:spPr>
          <a:xfrm>
            <a:off x="486410" y="201930"/>
            <a:ext cx="114300" cy="114300"/>
          </a:xfrm>
          <a:prstGeom prst="rect">
            <a:avLst/>
          </a:prstGeom>
          <a:solidFill>
            <a:srgbClr val="122E66"/>
          </a:solidFill>
          <a:ln>
            <a:noFill/>
          </a:ln>
        </p:spPr>
      </p:sp>
      <p:sp>
        <p:nvSpPr>
          <p:cNvPr id="3" name="sq-01"/>
          <p:cNvSpPr/>
          <p:nvPr/>
        </p:nvSpPr>
        <p:spPr>
          <a:xfrm>
            <a:off x="486410" y="347980"/>
            <a:ext cx="114300" cy="114300"/>
          </a:xfrm>
          <a:prstGeom prst="rect">
            <a:avLst/>
          </a:prstGeom>
          <a:solidFill>
            <a:srgbClr val="122E66"/>
          </a:solidFill>
          <a:ln>
            <a:noFill/>
          </a:ln>
        </p:spPr>
      </p:sp>
      <p:sp>
        <p:nvSpPr>
          <p:cNvPr id="4" name="sq-02"/>
          <p:cNvSpPr/>
          <p:nvPr/>
        </p:nvSpPr>
        <p:spPr>
          <a:xfrm>
            <a:off x="486410" y="494030"/>
            <a:ext cx="114300" cy="114300"/>
          </a:xfrm>
          <a:prstGeom prst="rect">
            <a:avLst/>
          </a:prstGeom>
          <a:solidFill>
            <a:srgbClr val="122E66"/>
          </a:solidFill>
          <a:ln>
            <a:noFill/>
          </a:ln>
        </p:spPr>
      </p:sp>
      <p:sp>
        <p:nvSpPr>
          <p:cNvPr id="5" name="sq-10"/>
          <p:cNvSpPr/>
          <p:nvPr/>
        </p:nvSpPr>
        <p:spPr>
          <a:xfrm>
            <a:off x="641350" y="201930"/>
            <a:ext cx="114300" cy="114300"/>
          </a:xfrm>
          <a:prstGeom prst="rect">
            <a:avLst/>
          </a:prstGeom>
          <a:solidFill>
            <a:srgbClr val="122E66"/>
          </a:solidFill>
          <a:ln>
            <a:noFill/>
          </a:ln>
        </p:spPr>
      </p:sp>
      <p:sp>
        <p:nvSpPr>
          <p:cNvPr id="6" name="sq-11"/>
          <p:cNvSpPr/>
          <p:nvPr/>
        </p:nvSpPr>
        <p:spPr>
          <a:xfrm>
            <a:off x="641350" y="347980"/>
            <a:ext cx="114300" cy="114300"/>
          </a:xfrm>
          <a:prstGeom prst="rect">
            <a:avLst/>
          </a:prstGeom>
          <a:solidFill>
            <a:srgbClr val="122E66"/>
          </a:solidFill>
          <a:ln>
            <a:noFill/>
          </a:ln>
        </p:spPr>
      </p:sp>
      <p:sp>
        <p:nvSpPr>
          <p:cNvPr id="7" name="sq-12"/>
          <p:cNvSpPr/>
          <p:nvPr/>
        </p:nvSpPr>
        <p:spPr>
          <a:xfrm>
            <a:off x="641350" y="494030"/>
            <a:ext cx="114300" cy="114300"/>
          </a:xfrm>
          <a:prstGeom prst="rect">
            <a:avLst/>
          </a:prstGeom>
          <a:solidFill>
            <a:srgbClr val="122E66"/>
          </a:solidFill>
          <a:ln>
            <a:noFill/>
          </a:ln>
        </p:spPr>
      </p:sp>
      <p:sp>
        <p:nvSpPr>
          <p:cNvPr id="8" name="sq-20"/>
          <p:cNvSpPr/>
          <p:nvPr/>
        </p:nvSpPr>
        <p:spPr>
          <a:xfrm>
            <a:off x="796290" y="201930"/>
            <a:ext cx="114300" cy="114300"/>
          </a:xfrm>
          <a:prstGeom prst="rect">
            <a:avLst/>
          </a:prstGeom>
          <a:solidFill>
            <a:srgbClr val="122E66"/>
          </a:solidFill>
          <a:ln>
            <a:noFill/>
          </a:ln>
        </p:spPr>
      </p:sp>
      <p:sp>
        <p:nvSpPr>
          <p:cNvPr id="9" name="sq-21"/>
          <p:cNvSpPr/>
          <p:nvPr/>
        </p:nvSpPr>
        <p:spPr>
          <a:xfrm>
            <a:off x="796290" y="347980"/>
            <a:ext cx="114300" cy="114300"/>
          </a:xfrm>
          <a:prstGeom prst="rect">
            <a:avLst/>
          </a:prstGeom>
          <a:solidFill>
            <a:srgbClr val="122E66"/>
          </a:solidFill>
          <a:ln>
            <a:noFill/>
          </a:ln>
        </p:spPr>
      </p:sp>
      <p:sp>
        <p:nvSpPr>
          <p:cNvPr id="10" name="sq-22"/>
          <p:cNvSpPr/>
          <p:nvPr/>
        </p:nvSpPr>
        <p:spPr>
          <a:xfrm>
            <a:off x="796290" y="494030"/>
            <a:ext cx="114300" cy="114300"/>
          </a:xfrm>
          <a:prstGeom prst="rect">
            <a:avLst/>
          </a:prstGeom>
          <a:solidFill>
            <a:srgbClr val="122E66"/>
          </a:solidFill>
          <a:ln>
            <a:noFill/>
          </a:ln>
        </p:spPr>
      </p:sp>
      <p:sp>
        <p:nvSpPr>
          <p:cNvPr id="11" name="logo"/>
          <p:cNvSpPr/>
          <p:nvPr/>
        </p:nvSpPr>
        <p:spPr>
          <a:xfrm>
            <a:off x="10496550" y="6350"/>
            <a:ext cx="1695450" cy="1375410"/>
          </a:xfrm>
          <a:custGeom>
            <a:avLst/>
            <a:gdLst/>
            <a:ahLst/>
            <a:cxnLst/>
            <a:rect l="l" t="t" r="r" b="b"/>
            <a:pathLst>
              <a:path w="2036266" h="1623111">
                <a:moveTo>
                  <a:pt x="0" y="0"/>
                </a:moveTo>
                <a:lnTo>
                  <a:pt x="2036266" y="0"/>
                </a:lnTo>
                <a:lnTo>
                  <a:pt x="2036266" y="1623111"/>
                </a:lnTo>
                <a:lnTo>
                  <a:pt x="0" y="16231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</p:spPr>
      </p:sp>
      <p:sp>
        <p:nvSpPr>
          <p:cNvPr id="12" name="band"/>
          <p:cNvSpPr/>
          <p:nvPr/>
        </p:nvSpPr>
        <p:spPr>
          <a:xfrm>
            <a:off x="-11430" y="1790700"/>
            <a:ext cx="12214860" cy="3276600"/>
          </a:xfrm>
          <a:prstGeom prst="rect">
            <a:avLst/>
          </a:prstGeom>
          <a:solidFill>
            <a:srgbClr val="122E66"/>
          </a:solidFill>
          <a:ln>
            <a:noFill/>
          </a:ln>
        </p:spPr>
      </p:sp>
      <p:sp>
        <p:nvSpPr>
          <p:cNvPr id="13" name="c-line1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eyJ2aWV3Qm94IjpbOTYwLDFdLCJwb2ludHMiOiIwLDAuNSA5NjAsMC41IiwiY3VydmUiOiJzaGFycCJ9</pptd:line>
              </p:ext>
            </p:extLst>
          </p:nvPr>
        </p:nvSpPr>
        <p:spPr>
          <a:xfrm>
            <a:off x="0" y="4941570"/>
            <a:ext cx="12192000" cy="12700"/>
          </a:xfrm>
          <a:custGeom>
            <a:avLst/>
            <a:gdLst/>
            <a:ahLst/>
            <a:cxnLst/>
            <a:rect l="l" t="t" r="r" b="b"/>
            <a:pathLst>
              <a:path w="960" h="1">
                <a:moveTo>
                  <a:pt x="0" y="1"/>
                </a:moveTo>
                <a:lnTo>
                  <a:pt x="960" y="1"/>
                </a:lnTo>
              </a:path>
            </a:pathLst>
          </a:custGeom>
          <a:noFill/>
          <a:ln w="34925">
            <a:solidFill>
              <a:srgbClr val="FFFFFF"/>
            </a:solidFill>
          </a:ln>
        </p:spPr>
      </p:sp>
      <p:sp>
        <p:nvSpPr>
          <p:cNvPr id="14" name="c-line2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eyJ2aWV3Qm94IjpbOTYyLjksMV0sInBvaW50cyI6IjAsMC41IDk2Mi45LDAuNSIsImN1cnZlIjoic2hhcnAifQ</pptd:line>
              </p:ext>
            </p:extLst>
          </p:nvPr>
        </p:nvSpPr>
        <p:spPr>
          <a:xfrm>
            <a:off x="-11430" y="1916430"/>
            <a:ext cx="12228830" cy="12700"/>
          </a:xfrm>
          <a:custGeom>
            <a:avLst/>
            <a:gdLst/>
            <a:ahLst/>
            <a:cxnLst/>
            <a:rect l="l" t="t" r="r" b="b"/>
            <a:pathLst>
              <a:path w="963" h="1">
                <a:moveTo>
                  <a:pt x="0" y="1"/>
                </a:moveTo>
                <a:lnTo>
                  <a:pt x="963" y="1"/>
                </a:lnTo>
              </a:path>
            </a:pathLst>
          </a:custGeom>
          <a:noFill/>
          <a:ln w="34925">
            <a:solidFill>
              <a:srgbClr val="FFFFFF"/>
            </a:solidFill>
          </a:ln>
        </p:spPr>
      </p:sp>
      <p:sp>
        <p:nvSpPr>
          <p:cNvPr id="15" name="c-title"/>
          <p:cNvSpPr txBox="1"/>
          <p:nvPr/>
        </p:nvSpPr>
        <p:spPr>
          <a:xfrm>
            <a:off x="1086884" y="2741191"/>
            <a:ext cx="10160000" cy="1078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35000"/>
              </a:lnSpc>
            </a:pPr>
            <a:r>
              <a:rPr lang="en-US" sz="4400" b="1" kern="0" spc="300" noProof="1">
                <a:solidFill>
                  <a:srgbClr val="FFFFFF"/>
                </a:solidFill>
                <a:latin typeface="Calibri"/>
                <a:ea typeface="Calibri"/>
              </a:rPr>
              <a:t>子任务拆解与大小模型路由</a:t>
            </a:r>
            <a:endParaRPr lang="en-US" sz="4400" noProof="1"/>
          </a:p>
        </p:txBody>
      </p:sp>
      <p:pic>
        <p:nvPicPr>
          <p:cNvPr id="18" name="c-icon1"/>
          <p:cNvPicPr/>
          <p:nvPr/>
        </p:nvPicPr>
        <p:blipFill>
          <a:blip r:embed="rId3"/>
          <a:stretch>
            <a:fillRect/>
          </a:stretch>
        </p:blipFill>
        <p:spPr>
          <a:xfrm>
            <a:off x="9358955" y="5794508"/>
            <a:ext cx="369570" cy="369570"/>
          </a:xfrm>
          <a:prstGeom prst="rect">
            <a:avLst/>
          </a:prstGeom>
          <a:ln>
            <a:noFill/>
          </a:ln>
        </p:spPr>
      </p:pic>
      <p:sp>
        <p:nvSpPr>
          <p:cNvPr id="20" name="c-r1"/>
          <p:cNvSpPr txBox="1"/>
          <p:nvPr/>
        </p:nvSpPr>
        <p:spPr>
          <a:xfrm>
            <a:off x="9892355" y="5847848"/>
            <a:ext cx="2147570" cy="2768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600" b="1" kern="0" spc="300" noProof="1">
                <a:solidFill>
                  <a:srgbClr val="122E66"/>
                </a:solidFill>
                <a:latin typeface="OPPOSans M"/>
                <a:ea typeface="OPPOSans M"/>
              </a:rPr>
              <a:t>汇报人：</a:t>
            </a:r>
            <a:r>
              <a:rPr lang="zh-CN" altLang="en-US" sz="1600" b="1" kern="0" spc="300" noProof="1">
                <a:solidFill>
                  <a:srgbClr val="122E66"/>
                </a:solidFill>
                <a:latin typeface="OPPOSans M"/>
                <a:ea typeface="OPPOSans M"/>
              </a:rPr>
              <a:t>苏一博</a:t>
            </a:r>
            <a:endParaRPr lang="en-US" sz="16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"/>
          <p:cNvSpPr/>
          <p:nvPr/>
        </p:nvSpPr>
        <p:spPr>
          <a:xfrm>
            <a:off x="10496550" y="6350"/>
            <a:ext cx="1695450" cy="1375410"/>
          </a:xfrm>
          <a:custGeom>
            <a:avLst/>
            <a:gdLst/>
            <a:ahLst/>
            <a:cxnLst/>
            <a:rect l="l" t="t" r="r" b="b"/>
            <a:pathLst>
              <a:path w="2036266" h="1623111">
                <a:moveTo>
                  <a:pt x="0" y="0"/>
                </a:moveTo>
                <a:lnTo>
                  <a:pt x="2036266" y="0"/>
                </a:lnTo>
                <a:lnTo>
                  <a:pt x="2036266" y="1623111"/>
                </a:lnTo>
                <a:lnTo>
                  <a:pt x="0" y="16231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</p:spPr>
      </p:sp>
      <p:sp>
        <p:nvSpPr>
          <p:cNvPr id="3" name="band"/>
          <p:cNvSpPr/>
          <p:nvPr/>
        </p:nvSpPr>
        <p:spPr>
          <a:xfrm>
            <a:off x="0" y="-72390"/>
            <a:ext cx="12214860" cy="2371090"/>
          </a:xfrm>
          <a:prstGeom prst="rect">
            <a:avLst/>
          </a:prstGeom>
          <a:solidFill>
            <a:srgbClr val="122E66"/>
          </a:solidFill>
          <a:ln>
            <a:noFill/>
          </a:ln>
        </p:spPr>
      </p:sp>
      <p:sp>
        <p:nvSpPr>
          <p:cNvPr id="4" name="toc-title"/>
          <p:cNvSpPr txBox="1"/>
          <p:nvPr/>
        </p:nvSpPr>
        <p:spPr>
          <a:xfrm>
            <a:off x="5242560" y="629920"/>
            <a:ext cx="1894840" cy="8305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5400" noProof="1">
                <a:solidFill>
                  <a:srgbClr val="FFFFFF"/>
                </a:solidFill>
                <a:latin typeface="阿里巴巴普惠体 B"/>
                <a:ea typeface="阿里巴巴普惠体 B"/>
              </a:rPr>
              <a:t>目 录</a:t>
            </a:r>
            <a:endParaRPr lang="en-US" sz="5400" noProof="1"/>
          </a:p>
        </p:txBody>
      </p:sp>
      <p:sp>
        <p:nvSpPr>
          <p:cNvPr id="5" name="toc-en"/>
          <p:cNvSpPr txBox="1"/>
          <p:nvPr/>
        </p:nvSpPr>
        <p:spPr>
          <a:xfrm>
            <a:off x="5431790" y="1496060"/>
            <a:ext cx="151765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600" b="1" noProof="1">
                <a:solidFill>
                  <a:srgbClr val="FFFFFF"/>
                </a:solidFill>
                <a:latin typeface="OPPOSans L"/>
                <a:ea typeface="OPPOSans L"/>
              </a:rPr>
              <a:t>CONTENTS</a:t>
            </a:r>
            <a:endParaRPr lang="en-US" sz="1600" noProof="1"/>
          </a:p>
        </p:txBody>
      </p:sp>
      <p:sp>
        <p:nvSpPr>
          <p:cNvPr id="6" name="toc-line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eyJ2aWV3Qm94IjpbOTYyLjksMV0sInBvaW50cyI6IjAsMC41IDk2Mi45LDAuNSIsImN1cnZlIjoic2hhcnAifQ</pptd:line>
              </p:ext>
            </p:extLst>
          </p:nvPr>
        </p:nvSpPr>
        <p:spPr>
          <a:xfrm>
            <a:off x="-12700" y="2190750"/>
            <a:ext cx="12228830" cy="12700"/>
          </a:xfrm>
          <a:custGeom>
            <a:avLst/>
            <a:gdLst/>
            <a:ahLst/>
            <a:cxnLst/>
            <a:rect l="l" t="t" r="r" b="b"/>
            <a:pathLst>
              <a:path w="963" h="1">
                <a:moveTo>
                  <a:pt x="0" y="1"/>
                </a:moveTo>
                <a:lnTo>
                  <a:pt x="963" y="1"/>
                </a:lnTo>
              </a:path>
            </a:pathLst>
          </a:custGeom>
          <a:noFill/>
          <a:ln w="34925">
            <a:solidFill>
              <a:srgbClr val="FFFFFF"/>
            </a:solidFill>
          </a:ln>
        </p:spPr>
      </p:sp>
      <p:sp>
        <p:nvSpPr>
          <p:cNvPr id="7" name="toc-badge-01"/>
          <p:cNvSpPr/>
          <p:nvPr/>
        </p:nvSpPr>
        <p:spPr>
          <a:xfrm>
            <a:off x="1606550" y="2593340"/>
            <a:ext cx="580390" cy="580390"/>
          </a:xfrm>
          <a:prstGeom prst="roundRect">
            <a:avLst/>
          </a:prstGeom>
          <a:solidFill>
            <a:srgbClr val="122E66"/>
          </a:solidFill>
          <a:ln>
            <a:noFill/>
          </a:ln>
        </p:spPr>
      </p:sp>
      <p:sp>
        <p:nvSpPr>
          <p:cNvPr id="8" name="toc-num-01"/>
          <p:cNvSpPr txBox="1"/>
          <p:nvPr/>
        </p:nvSpPr>
        <p:spPr>
          <a:xfrm>
            <a:off x="1697990" y="2700020"/>
            <a:ext cx="516890" cy="3771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noProof="1">
                <a:solidFill>
                  <a:srgbClr val="FFFFFF"/>
                </a:solidFill>
                <a:latin typeface="OPPOSans H"/>
                <a:ea typeface="OPPOSans H"/>
              </a:rPr>
              <a:t>01</a:t>
            </a:r>
            <a:endParaRPr lang="en-US" sz="2400" noProof="1"/>
          </a:p>
        </p:txBody>
      </p:sp>
      <p:sp>
        <p:nvSpPr>
          <p:cNvPr id="9" name="toc-t-01"/>
          <p:cNvSpPr txBox="1"/>
          <p:nvPr/>
        </p:nvSpPr>
        <p:spPr>
          <a:xfrm>
            <a:off x="2467610" y="2639060"/>
            <a:ext cx="2540000" cy="370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zh-CN" altLang="en-US" sz="2400" b="1" noProof="1">
                <a:solidFill>
                  <a:srgbClr val="122E66"/>
                </a:solidFill>
                <a:latin typeface="OPPOSans R"/>
                <a:ea typeface="OPPOSans R"/>
              </a:rPr>
              <a:t>问题背景</a:t>
            </a:r>
            <a:endParaRPr lang="en-US" sz="2400" noProof="1"/>
          </a:p>
        </p:txBody>
      </p:sp>
      <p:sp>
        <p:nvSpPr>
          <p:cNvPr id="10" name="toc-d-01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eyJ2aWV3Qm94IjpbMTY0LjQsMV0sInBvaW50cyI6IjAsMC41IDE2NC40LDAuNSIsImN1cnZlIjoic2hhcnAifQ</pptd:line>
              </p:ext>
            </p:extLst>
          </p:nvPr>
        </p:nvSpPr>
        <p:spPr>
          <a:xfrm>
            <a:off x="2437130" y="3103880"/>
            <a:ext cx="2087880" cy="12700"/>
          </a:xfrm>
          <a:custGeom>
            <a:avLst/>
            <a:gdLst/>
            <a:ahLst/>
            <a:cxnLst/>
            <a:rect l="l" t="t" r="r" b="b"/>
            <a:pathLst>
              <a:path w="164" h="1">
                <a:moveTo>
                  <a:pt x="0" y="1"/>
                </a:moveTo>
                <a:lnTo>
                  <a:pt x="164" y="1"/>
                </a:lnTo>
              </a:path>
            </a:pathLst>
          </a:custGeom>
          <a:noFill/>
          <a:ln w="9525">
            <a:solidFill>
              <a:srgbClr val="BFBFBF"/>
            </a:solidFill>
          </a:ln>
        </p:spPr>
      </p:sp>
      <p:sp>
        <p:nvSpPr>
          <p:cNvPr id="12" name="toc-badge-02"/>
          <p:cNvSpPr/>
          <p:nvPr/>
        </p:nvSpPr>
        <p:spPr>
          <a:xfrm>
            <a:off x="7666990" y="2593340"/>
            <a:ext cx="580390" cy="580390"/>
          </a:xfrm>
          <a:prstGeom prst="roundRect">
            <a:avLst/>
          </a:prstGeom>
          <a:solidFill>
            <a:srgbClr val="122E66"/>
          </a:solidFill>
          <a:ln>
            <a:noFill/>
          </a:ln>
        </p:spPr>
      </p:sp>
      <p:sp>
        <p:nvSpPr>
          <p:cNvPr id="13" name="toc-num-02"/>
          <p:cNvSpPr txBox="1"/>
          <p:nvPr/>
        </p:nvSpPr>
        <p:spPr>
          <a:xfrm>
            <a:off x="7758430" y="2700020"/>
            <a:ext cx="516890" cy="3771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noProof="1">
                <a:solidFill>
                  <a:srgbClr val="FFFFFF"/>
                </a:solidFill>
                <a:latin typeface="OPPOSans H"/>
                <a:ea typeface="OPPOSans H"/>
              </a:rPr>
              <a:t>02</a:t>
            </a:r>
            <a:endParaRPr lang="en-US" sz="2400" noProof="1"/>
          </a:p>
        </p:txBody>
      </p:sp>
      <p:sp>
        <p:nvSpPr>
          <p:cNvPr id="14" name="toc-t-02"/>
          <p:cNvSpPr txBox="1"/>
          <p:nvPr/>
        </p:nvSpPr>
        <p:spPr>
          <a:xfrm>
            <a:off x="8528050" y="2639060"/>
            <a:ext cx="2540000" cy="370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zh-CN" altLang="en-US" sz="2400" b="1" noProof="1">
                <a:solidFill>
                  <a:srgbClr val="122E66"/>
                </a:solidFill>
                <a:latin typeface="OPPOSans R"/>
                <a:ea typeface="OPPOSans R"/>
              </a:rPr>
              <a:t>相关工作</a:t>
            </a:r>
            <a:endParaRPr lang="en-US" sz="2400" noProof="1"/>
          </a:p>
        </p:txBody>
      </p:sp>
      <p:sp>
        <p:nvSpPr>
          <p:cNvPr id="15" name="toc-d-02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eyJ2aWV3Qm94IjpbMTY0LjQsMV0sInBvaW50cyI6IjAsMC41IDE2NC40LDAuNSIsImN1cnZlIjoic2hhcnAifQ</pptd:line>
              </p:ext>
            </p:extLst>
          </p:nvPr>
        </p:nvSpPr>
        <p:spPr>
          <a:xfrm>
            <a:off x="8497570" y="3103880"/>
            <a:ext cx="2087880" cy="12700"/>
          </a:xfrm>
          <a:custGeom>
            <a:avLst/>
            <a:gdLst/>
            <a:ahLst/>
            <a:cxnLst/>
            <a:rect l="l" t="t" r="r" b="b"/>
            <a:pathLst>
              <a:path w="164" h="1">
                <a:moveTo>
                  <a:pt x="0" y="1"/>
                </a:moveTo>
                <a:lnTo>
                  <a:pt x="164" y="1"/>
                </a:lnTo>
              </a:path>
            </a:pathLst>
          </a:custGeom>
          <a:noFill/>
          <a:ln w="9525">
            <a:solidFill>
              <a:srgbClr val="BFBFBF"/>
            </a:solidFill>
          </a:ln>
        </p:spPr>
      </p:sp>
      <p:sp>
        <p:nvSpPr>
          <p:cNvPr id="17" name="toc-badge-03"/>
          <p:cNvSpPr/>
          <p:nvPr/>
        </p:nvSpPr>
        <p:spPr>
          <a:xfrm>
            <a:off x="1606550" y="4668520"/>
            <a:ext cx="580390" cy="580390"/>
          </a:xfrm>
          <a:prstGeom prst="roundRect">
            <a:avLst/>
          </a:prstGeom>
          <a:solidFill>
            <a:srgbClr val="122E66"/>
          </a:solidFill>
          <a:ln>
            <a:noFill/>
          </a:ln>
        </p:spPr>
      </p:sp>
      <p:sp>
        <p:nvSpPr>
          <p:cNvPr id="18" name="toc-num-03"/>
          <p:cNvSpPr txBox="1"/>
          <p:nvPr/>
        </p:nvSpPr>
        <p:spPr>
          <a:xfrm>
            <a:off x="1697990" y="4775200"/>
            <a:ext cx="516890" cy="3771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noProof="1">
                <a:solidFill>
                  <a:srgbClr val="FFFFFF"/>
                </a:solidFill>
                <a:latin typeface="OPPOSans H"/>
                <a:ea typeface="OPPOSans H"/>
              </a:rPr>
              <a:t>03</a:t>
            </a:r>
            <a:endParaRPr lang="en-US" sz="2400" noProof="1"/>
          </a:p>
        </p:txBody>
      </p:sp>
      <p:sp>
        <p:nvSpPr>
          <p:cNvPr id="19" name="toc-t-03"/>
          <p:cNvSpPr txBox="1"/>
          <p:nvPr/>
        </p:nvSpPr>
        <p:spPr>
          <a:xfrm>
            <a:off x="2467610" y="4714240"/>
            <a:ext cx="2540000" cy="370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zh-CN" altLang="en-US" sz="2400" b="1" noProof="1">
                <a:solidFill>
                  <a:srgbClr val="122E66"/>
                </a:solidFill>
                <a:latin typeface="OPPOSans R"/>
                <a:ea typeface="OPPOSans R"/>
              </a:rPr>
              <a:t>具体工作</a:t>
            </a:r>
            <a:endParaRPr lang="en-US" sz="2400" noProof="1"/>
          </a:p>
        </p:txBody>
      </p:sp>
      <p:sp>
        <p:nvSpPr>
          <p:cNvPr id="20" name="toc-d-03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eyJ2aWV3Qm94IjpbMTY0LjQsMV0sInBvaW50cyI6IjAsMC41IDE2NC40LDAuNSIsImN1cnZlIjoic2hhcnAifQ</pptd:line>
              </p:ext>
            </p:extLst>
          </p:nvPr>
        </p:nvSpPr>
        <p:spPr>
          <a:xfrm>
            <a:off x="2437130" y="5179060"/>
            <a:ext cx="2087880" cy="12700"/>
          </a:xfrm>
          <a:custGeom>
            <a:avLst/>
            <a:gdLst/>
            <a:ahLst/>
            <a:cxnLst/>
            <a:rect l="l" t="t" r="r" b="b"/>
            <a:pathLst>
              <a:path w="164" h="1">
                <a:moveTo>
                  <a:pt x="0" y="1"/>
                </a:moveTo>
                <a:lnTo>
                  <a:pt x="164" y="1"/>
                </a:lnTo>
              </a:path>
            </a:pathLst>
          </a:custGeom>
          <a:noFill/>
          <a:ln w="9525">
            <a:solidFill>
              <a:srgbClr val="BFBFBF"/>
            </a:solidFill>
          </a:ln>
        </p:spPr>
      </p:sp>
      <p:sp>
        <p:nvSpPr>
          <p:cNvPr id="22" name="toc-badge-04"/>
          <p:cNvSpPr/>
          <p:nvPr/>
        </p:nvSpPr>
        <p:spPr>
          <a:xfrm>
            <a:off x="7666990" y="4668520"/>
            <a:ext cx="580390" cy="580390"/>
          </a:xfrm>
          <a:prstGeom prst="roundRect">
            <a:avLst/>
          </a:prstGeom>
          <a:solidFill>
            <a:srgbClr val="122E66"/>
          </a:solidFill>
          <a:ln>
            <a:noFill/>
          </a:ln>
        </p:spPr>
      </p:sp>
      <p:sp>
        <p:nvSpPr>
          <p:cNvPr id="23" name="toc-num-04"/>
          <p:cNvSpPr txBox="1"/>
          <p:nvPr/>
        </p:nvSpPr>
        <p:spPr>
          <a:xfrm>
            <a:off x="7758430" y="4775200"/>
            <a:ext cx="516890" cy="3771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noProof="1">
                <a:solidFill>
                  <a:srgbClr val="FFFFFF"/>
                </a:solidFill>
                <a:latin typeface="OPPOSans H"/>
                <a:ea typeface="OPPOSans H"/>
              </a:rPr>
              <a:t>04</a:t>
            </a:r>
            <a:endParaRPr lang="en-US" sz="2400" noProof="1"/>
          </a:p>
        </p:txBody>
      </p:sp>
      <p:sp>
        <p:nvSpPr>
          <p:cNvPr id="24" name="toc-t-04"/>
          <p:cNvSpPr txBox="1"/>
          <p:nvPr/>
        </p:nvSpPr>
        <p:spPr>
          <a:xfrm>
            <a:off x="8528050" y="4714240"/>
            <a:ext cx="2540000" cy="370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zh-CN" altLang="en-US" sz="2400" b="1" noProof="1">
                <a:solidFill>
                  <a:srgbClr val="122E66"/>
                </a:solidFill>
                <a:latin typeface="OPPOSans R"/>
                <a:ea typeface="OPPOSans R"/>
              </a:rPr>
              <a:t>计划</a:t>
            </a:r>
            <a:endParaRPr lang="en-US" sz="2400" noProof="1"/>
          </a:p>
        </p:txBody>
      </p:sp>
      <p:sp>
        <p:nvSpPr>
          <p:cNvPr id="25" name="toc-d-04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eyJ2aWV3Qm94IjpbMTY0LjQsMV0sInBvaW50cyI6IjAsMC41IDE2NC40LDAuNSIsImN1cnZlIjoic2hhcnAifQ</pptd:line>
              </p:ext>
            </p:extLst>
          </p:nvPr>
        </p:nvSpPr>
        <p:spPr>
          <a:xfrm>
            <a:off x="8497570" y="5179060"/>
            <a:ext cx="2087880" cy="12700"/>
          </a:xfrm>
          <a:custGeom>
            <a:avLst/>
            <a:gdLst/>
            <a:ahLst/>
            <a:cxnLst/>
            <a:rect l="l" t="t" r="r" b="b"/>
            <a:pathLst>
              <a:path w="164" h="1">
                <a:moveTo>
                  <a:pt x="0" y="1"/>
                </a:moveTo>
                <a:lnTo>
                  <a:pt x="164" y="1"/>
                </a:lnTo>
              </a:path>
            </a:pathLst>
          </a:custGeom>
          <a:noFill/>
          <a:ln w="9525">
            <a:solidFill>
              <a:srgbClr val="BFBFBF"/>
            </a:solidFill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strip"/>
          <p:cNvSpPr/>
          <p:nvPr/>
        </p:nvSpPr>
        <p:spPr>
          <a:xfrm>
            <a:off x="0" y="-11430"/>
            <a:ext cx="12192000" cy="175260"/>
          </a:xfrm>
          <a:prstGeom prst="rect">
            <a:avLst/>
          </a:prstGeom>
          <a:solidFill>
            <a:srgbClr val="122E66"/>
          </a:solidFill>
          <a:ln>
            <a:noFill/>
          </a:ln>
        </p:spPr>
      </p:sp>
      <p:sp>
        <p:nvSpPr>
          <p:cNvPr id="3" name="nav-panel"/>
          <p:cNvSpPr/>
          <p:nvPr/>
        </p:nvSpPr>
        <p:spPr>
          <a:xfrm>
            <a:off x="0" y="163830"/>
            <a:ext cx="1164590" cy="66865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" name="nav-hl"/>
          <p:cNvSpPr/>
          <p:nvPr/>
        </p:nvSpPr>
        <p:spPr>
          <a:xfrm>
            <a:off x="-6350" y="1892300"/>
            <a:ext cx="1164590" cy="36449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5" name="nav-0"/>
          <p:cNvSpPr txBox="1"/>
          <p:nvPr/>
        </p:nvSpPr>
        <p:spPr>
          <a:xfrm>
            <a:off x="85090" y="1894840"/>
            <a:ext cx="981710" cy="3086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zh-CN" altLang="en-US" sz="1400" noProof="1">
                <a:solidFill>
                  <a:srgbClr val="262626"/>
                </a:solidFill>
                <a:latin typeface="阿里巴巴普惠体 R"/>
                <a:ea typeface="阿里巴巴普惠体 R"/>
              </a:rPr>
              <a:t>问题背景</a:t>
            </a:r>
            <a:endParaRPr lang="en-US" sz="1400" noProof="1"/>
          </a:p>
        </p:txBody>
      </p:sp>
      <p:sp>
        <p:nvSpPr>
          <p:cNvPr id="6" name="nav-1"/>
          <p:cNvSpPr txBox="1"/>
          <p:nvPr/>
        </p:nvSpPr>
        <p:spPr>
          <a:xfrm>
            <a:off x="85090" y="2550160"/>
            <a:ext cx="981710" cy="3086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zh-CN" altLang="en-US" sz="1400" noProof="1">
                <a:solidFill>
                  <a:srgbClr val="808080"/>
                </a:solidFill>
                <a:latin typeface="阿里巴巴普惠体 R"/>
              </a:rPr>
              <a:t>相关工作</a:t>
            </a:r>
            <a:endParaRPr lang="en-US" sz="1400" noProof="1"/>
          </a:p>
        </p:txBody>
      </p:sp>
      <p:sp>
        <p:nvSpPr>
          <p:cNvPr id="7" name="nav-2"/>
          <p:cNvSpPr txBox="1"/>
          <p:nvPr/>
        </p:nvSpPr>
        <p:spPr>
          <a:xfrm>
            <a:off x="85090" y="3205480"/>
            <a:ext cx="981710" cy="3086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noProof="1">
                <a:solidFill>
                  <a:srgbClr val="808080"/>
                </a:solidFill>
                <a:latin typeface="阿里巴巴普惠体 R"/>
                <a:ea typeface="阿里巴巴普惠体 R"/>
              </a:rPr>
              <a:t>系统思路</a:t>
            </a:r>
            <a:endParaRPr lang="en-US" sz="1400" noProof="1"/>
          </a:p>
        </p:txBody>
      </p:sp>
      <p:sp>
        <p:nvSpPr>
          <p:cNvPr id="8" name="nav-3"/>
          <p:cNvSpPr txBox="1"/>
          <p:nvPr/>
        </p:nvSpPr>
        <p:spPr>
          <a:xfrm>
            <a:off x="85090" y="3862070"/>
            <a:ext cx="981710" cy="3086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noProof="1">
                <a:solidFill>
                  <a:srgbClr val="808080"/>
                </a:solidFill>
                <a:latin typeface="阿里巴巴普惠体 R"/>
                <a:ea typeface="阿里巴巴普惠体 R"/>
              </a:rPr>
              <a:t>研究计划</a:t>
            </a:r>
            <a:endParaRPr lang="en-US" sz="1400" noProof="1"/>
          </a:p>
        </p:txBody>
      </p:sp>
      <p:sp>
        <p:nvSpPr>
          <p:cNvPr id="10" name="logo"/>
          <p:cNvSpPr/>
          <p:nvPr/>
        </p:nvSpPr>
        <p:spPr>
          <a:xfrm>
            <a:off x="49530" y="257810"/>
            <a:ext cx="1047750" cy="815340"/>
          </a:xfrm>
          <a:custGeom>
            <a:avLst/>
            <a:gdLst/>
            <a:ahLst/>
            <a:cxnLst/>
            <a:rect l="l" t="t" r="r" b="b"/>
            <a:pathLst>
              <a:path w="2036266" h="1623111">
                <a:moveTo>
                  <a:pt x="0" y="0"/>
                </a:moveTo>
                <a:lnTo>
                  <a:pt x="2036266" y="0"/>
                </a:lnTo>
                <a:lnTo>
                  <a:pt x="2036266" y="1623111"/>
                </a:lnTo>
                <a:lnTo>
                  <a:pt x="0" y="16231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11" name="hd-line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eyJ2aWV3Qm94IjpbMSwyNy4yXSwicG9pbnRzIjoiMC41LDAgMC41LDI3LjIiLCJjdXJ2ZSI6InNoYXJwIn0</pptd:line>
              </p:ext>
            </p:extLst>
          </p:nvPr>
        </p:nvSpPr>
        <p:spPr>
          <a:xfrm>
            <a:off x="1625600" y="431800"/>
            <a:ext cx="12700" cy="345440"/>
          </a:xfrm>
          <a:custGeom>
            <a:avLst/>
            <a:gdLst/>
            <a:ahLst/>
            <a:cxnLst/>
            <a:rect l="l" t="t" r="r" b="b"/>
            <a:pathLst>
              <a:path w="1" h="27">
                <a:moveTo>
                  <a:pt x="1" y="0"/>
                </a:moveTo>
                <a:lnTo>
                  <a:pt x="1" y="27"/>
                </a:lnTo>
              </a:path>
            </a:pathLst>
          </a:custGeom>
          <a:noFill/>
          <a:ln w="92075">
            <a:solidFill>
              <a:srgbClr val="122E66"/>
            </a:solidFill>
          </a:ln>
        </p:spPr>
      </p:sp>
      <p:sp>
        <p:nvSpPr>
          <p:cNvPr id="13" name="hd-title"/>
          <p:cNvSpPr txBox="1"/>
          <p:nvPr/>
        </p:nvSpPr>
        <p:spPr>
          <a:xfrm>
            <a:off x="2301240" y="458470"/>
            <a:ext cx="9525000" cy="3086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endParaRPr lang="en-US" sz="2000" noProof="1"/>
          </a:p>
        </p:txBody>
      </p:sp>
      <p:sp>
        <p:nvSpPr>
          <p:cNvPr id="18" name="p1-bg"/>
          <p:cNvSpPr/>
          <p:nvPr/>
        </p:nvSpPr>
        <p:spPr>
          <a:xfrm>
            <a:off x="1954428" y="266700"/>
            <a:ext cx="4953000" cy="340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19" name="p1-hd"/>
          <p:cNvSpPr/>
          <p:nvPr/>
        </p:nvSpPr>
        <p:spPr>
          <a:xfrm>
            <a:off x="1957070" y="257810"/>
            <a:ext cx="4953000" cy="457200"/>
          </a:xfrm>
          <a:prstGeom prst="rect">
            <a:avLst/>
          </a:prstGeom>
          <a:solidFill>
            <a:srgbClr val="122E66"/>
          </a:solidFill>
          <a:ln>
            <a:noFill/>
          </a:ln>
        </p:spPr>
      </p:sp>
      <p:sp>
        <p:nvSpPr>
          <p:cNvPr id="20" name="p1-ht"/>
          <p:cNvSpPr txBox="1"/>
          <p:nvPr/>
        </p:nvSpPr>
        <p:spPr>
          <a:xfrm>
            <a:off x="1957070" y="359410"/>
            <a:ext cx="4953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FFFFFF"/>
                </a:solidFill>
                <a:latin typeface="OPPOSans B"/>
                <a:ea typeface="OPPOSans B"/>
              </a:rPr>
              <a:t>方式一：全部使用大模型</a:t>
            </a:r>
            <a:endParaRPr lang="en-US" sz="1400" noProof="1"/>
          </a:p>
        </p:txBody>
      </p:sp>
      <p:sp>
        <p:nvSpPr>
          <p:cNvPr id="21" name="p1-q0"/>
          <p:cNvSpPr/>
          <p:nvPr/>
        </p:nvSpPr>
        <p:spPr>
          <a:xfrm>
            <a:off x="2338070" y="1146810"/>
            <a:ext cx="431800" cy="381000"/>
          </a:xfrm>
          <a:prstGeom prst="roundRect">
            <a:avLst>
              <a:gd name="adj" fmla="val 25000"/>
            </a:avLst>
          </a:prstGeom>
          <a:solidFill>
            <a:srgbClr val="122E66"/>
          </a:solidFill>
          <a:ln>
            <a:noFill/>
          </a:ln>
        </p:spPr>
      </p:sp>
      <p:sp>
        <p:nvSpPr>
          <p:cNvPr id="22" name="p1-q1"/>
          <p:cNvSpPr/>
          <p:nvPr/>
        </p:nvSpPr>
        <p:spPr>
          <a:xfrm>
            <a:off x="2338070" y="1680210"/>
            <a:ext cx="431800" cy="381000"/>
          </a:xfrm>
          <a:prstGeom prst="roundRect">
            <a:avLst>
              <a:gd name="adj" fmla="val 25000"/>
            </a:avLst>
          </a:prstGeom>
          <a:solidFill>
            <a:srgbClr val="A9C7E8"/>
          </a:solidFill>
          <a:ln>
            <a:noFill/>
          </a:ln>
        </p:spPr>
      </p:sp>
      <p:sp>
        <p:nvSpPr>
          <p:cNvPr id="23" name="p1-q2"/>
          <p:cNvSpPr/>
          <p:nvPr/>
        </p:nvSpPr>
        <p:spPr>
          <a:xfrm>
            <a:off x="2338070" y="2213610"/>
            <a:ext cx="431800" cy="381000"/>
          </a:xfrm>
          <a:prstGeom prst="roundRect">
            <a:avLst>
              <a:gd name="adj" fmla="val 25000"/>
            </a:avLst>
          </a:prstGeom>
          <a:solidFill>
            <a:srgbClr val="D9D9D9"/>
          </a:solidFill>
          <a:ln>
            <a:noFill/>
          </a:ln>
        </p:spPr>
      </p:sp>
      <p:sp>
        <p:nvSpPr>
          <p:cNvPr id="24" name="p1-ql"/>
          <p:cNvSpPr txBox="1"/>
          <p:nvPr/>
        </p:nvSpPr>
        <p:spPr>
          <a:xfrm>
            <a:off x="2871470" y="1146810"/>
            <a:ext cx="1143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>
                <a:latin typeface="阿里巴巴普惠体 R"/>
                <a:ea typeface="阿里巴巴普惠体 R"/>
              </a:rPr>
              <a:t>复杂</a:t>
            </a:r>
            <a:r>
              <a:rPr lang="zh-CN" altLang="en-US" sz="1050" noProof="1">
                <a:latin typeface="阿里巴巴普惠体 R"/>
                <a:ea typeface="阿里巴巴普惠体 R"/>
              </a:rPr>
              <a:t>任务</a:t>
            </a:r>
            <a:endParaRPr lang="en-US" sz="1050" noProof="1"/>
          </a:p>
        </p:txBody>
      </p:sp>
      <p:sp>
        <p:nvSpPr>
          <p:cNvPr id="25" name="p1-a1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eyJ2aWV3Qm94IjpbNTAsMl0sInBvaW50cyI6IjAsMSA1MCwxIiwiY3VydmUiOiJzaGFycCJ9</pptd:line>
              </p:ext>
            </p:extLst>
          </p:nvPr>
        </p:nvSpPr>
        <p:spPr>
          <a:xfrm>
            <a:off x="3379470" y="1858010"/>
            <a:ext cx="635000" cy="25400"/>
          </a:xfrm>
          <a:custGeom>
            <a:avLst/>
            <a:gdLst/>
            <a:ahLst/>
            <a:cxnLst/>
            <a:rect l="l" t="t" r="r" b="b"/>
            <a:pathLst>
              <a:path w="50" h="2">
                <a:moveTo>
                  <a:pt x="0" y="1"/>
                </a:moveTo>
                <a:lnTo>
                  <a:pt x="50" y="1"/>
                </a:lnTo>
              </a:path>
            </a:pathLst>
          </a:custGeom>
          <a:noFill/>
          <a:ln w="25400">
            <a:solidFill>
              <a:srgbClr val="2673B7"/>
            </a:solidFill>
            <a:tailEnd type="arrow"/>
          </a:ln>
        </p:spPr>
      </p:sp>
      <p:sp>
        <p:nvSpPr>
          <p:cNvPr id="26" name="p1-llm"/>
          <p:cNvSpPr/>
          <p:nvPr/>
        </p:nvSpPr>
        <p:spPr>
          <a:xfrm>
            <a:off x="4141470" y="1172210"/>
            <a:ext cx="2286000" cy="1524000"/>
          </a:xfrm>
          <a:prstGeom prst="roundRect">
            <a:avLst>
              <a:gd name="adj" fmla="val 15000"/>
            </a:avLst>
          </a:prstGeom>
          <a:solidFill>
            <a:srgbClr val="122E66"/>
          </a:solidFill>
          <a:ln>
            <a:noFill/>
          </a:ln>
        </p:spPr>
      </p:sp>
      <p:sp>
        <p:nvSpPr>
          <p:cNvPr id="27" name="p1-llm-t"/>
          <p:cNvSpPr txBox="1"/>
          <p:nvPr/>
        </p:nvSpPr>
        <p:spPr>
          <a:xfrm>
            <a:off x="4141470" y="1172210"/>
            <a:ext cx="2286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800" b="1" noProof="1">
                <a:solidFill>
                  <a:srgbClr val="FFFFFF"/>
                </a:solidFill>
                <a:latin typeface="OPPOSans B"/>
                <a:ea typeface="OPPOSans B"/>
              </a:rPr>
              <a:t>大模型</a:t>
            </a:r>
            <a:endParaRPr lang="en-US" sz="2800" noProof="1"/>
          </a:p>
          <a:p>
            <a:pPr algn="ctr">
              <a:lnSpc>
                <a:spcPct val="140000"/>
              </a:lnSpc>
            </a:pPr>
            <a:r>
              <a:rPr lang="en-US" noProof="1">
                <a:solidFill>
                  <a:srgbClr val="FFFFFF"/>
                </a:solidFill>
                <a:latin typeface="OPPOSans B"/>
                <a:ea typeface="OPPOSans B"/>
              </a:rPr>
              <a:t>所有查询整体进入</a:t>
            </a:r>
            <a:endParaRPr lang="en-US" sz="2800" noProof="1"/>
          </a:p>
        </p:txBody>
      </p:sp>
      <p:sp>
        <p:nvSpPr>
          <p:cNvPr id="28" name="p1-bl"/>
          <p:cNvSpPr txBox="1"/>
          <p:nvPr/>
        </p:nvSpPr>
        <p:spPr>
          <a:xfrm>
            <a:off x="2185670" y="2899410"/>
            <a:ext cx="4572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  <a:spcBef>
                <a:spcPts val="10"/>
              </a:spcBef>
              <a:buChar char="•"/>
            </a:pPr>
            <a:r>
              <a:rPr lang="en-US" sz="1400" noProof="1">
                <a:solidFill>
                  <a:srgbClr val="262626"/>
                </a:solidFill>
                <a:latin typeface="阿里巴巴普惠体 R"/>
                <a:ea typeface="阿里巴巴普惠体 R"/>
              </a:rPr>
              <a:t>质量相对稳定</a:t>
            </a:r>
            <a:endParaRPr lang="en-US" sz="1400" noProof="1"/>
          </a:p>
          <a:p>
            <a:pPr>
              <a:lnSpc>
                <a:spcPct val="150000"/>
              </a:lnSpc>
              <a:spcBef>
                <a:spcPts val="10"/>
              </a:spcBef>
              <a:buChar char="•"/>
            </a:pPr>
            <a:r>
              <a:rPr lang="en-US" sz="1400" noProof="1">
                <a:solidFill>
                  <a:srgbClr val="262626"/>
                </a:solidFill>
                <a:latin typeface="阿里巴巴普惠体 R"/>
                <a:ea typeface="阿里巴巴普惠体 R"/>
              </a:rPr>
              <a:t>大量简单工作也</a:t>
            </a:r>
            <a:r>
              <a:rPr lang="en-US" sz="1400" b="1" noProof="1">
                <a:solidFill>
                  <a:srgbClr val="262626"/>
                </a:solidFill>
                <a:latin typeface="阿里巴巴普惠体 R"/>
                <a:ea typeface="阿里巴巴普惠体 R"/>
              </a:rPr>
              <a:t>占用</a:t>
            </a:r>
            <a:r>
              <a:rPr lang="en-US" sz="1400" noProof="1">
                <a:solidFill>
                  <a:srgbClr val="262626"/>
                </a:solidFill>
                <a:latin typeface="阿里巴巴普惠体 R"/>
                <a:ea typeface="阿里巴巴普惠体 R"/>
              </a:rPr>
              <a:t>昂贵计算</a:t>
            </a:r>
            <a:r>
              <a:rPr lang="en-US" sz="1400" b="1" noProof="1">
                <a:solidFill>
                  <a:srgbClr val="262626"/>
                </a:solidFill>
                <a:latin typeface="阿里巴巴普惠体 R"/>
                <a:ea typeface="阿里巴巴普惠体 R"/>
              </a:rPr>
              <a:t>资源</a:t>
            </a:r>
            <a:endParaRPr lang="en-US" sz="1400" b="1" noProof="1"/>
          </a:p>
        </p:txBody>
      </p:sp>
      <p:sp>
        <p:nvSpPr>
          <p:cNvPr id="29" name="p2-bg"/>
          <p:cNvSpPr/>
          <p:nvPr/>
        </p:nvSpPr>
        <p:spPr>
          <a:xfrm>
            <a:off x="7189470" y="257810"/>
            <a:ext cx="4953000" cy="340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30" name="p2-hd"/>
          <p:cNvSpPr/>
          <p:nvPr/>
        </p:nvSpPr>
        <p:spPr>
          <a:xfrm>
            <a:off x="7189470" y="257810"/>
            <a:ext cx="4953000" cy="457200"/>
          </a:xfrm>
          <a:prstGeom prst="rect">
            <a:avLst/>
          </a:prstGeom>
          <a:solidFill>
            <a:srgbClr val="0E58A3"/>
          </a:solidFill>
          <a:ln>
            <a:noFill/>
          </a:ln>
        </p:spPr>
      </p:sp>
      <p:sp>
        <p:nvSpPr>
          <p:cNvPr id="31" name="p2-ht"/>
          <p:cNvSpPr txBox="1"/>
          <p:nvPr/>
        </p:nvSpPr>
        <p:spPr>
          <a:xfrm>
            <a:off x="7189470" y="359410"/>
            <a:ext cx="4953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FFFFFF"/>
                </a:solidFill>
                <a:latin typeface="OPPOSans B"/>
                <a:ea typeface="OPPOSans B"/>
              </a:rPr>
              <a:t>方式二：整题大小模型路由</a:t>
            </a:r>
            <a:endParaRPr lang="en-US" sz="1400" noProof="1"/>
          </a:p>
        </p:txBody>
      </p:sp>
      <p:sp>
        <p:nvSpPr>
          <p:cNvPr id="32" name="p2-q0"/>
          <p:cNvSpPr/>
          <p:nvPr/>
        </p:nvSpPr>
        <p:spPr>
          <a:xfrm>
            <a:off x="7519670" y="1146810"/>
            <a:ext cx="431800" cy="381000"/>
          </a:xfrm>
          <a:prstGeom prst="roundRect">
            <a:avLst>
              <a:gd name="adj" fmla="val 25000"/>
            </a:avLst>
          </a:prstGeom>
          <a:solidFill>
            <a:srgbClr val="122E66"/>
          </a:solidFill>
          <a:ln>
            <a:noFill/>
          </a:ln>
        </p:spPr>
      </p:sp>
      <p:sp>
        <p:nvSpPr>
          <p:cNvPr id="33" name="p2-q1"/>
          <p:cNvSpPr/>
          <p:nvPr/>
        </p:nvSpPr>
        <p:spPr>
          <a:xfrm>
            <a:off x="7519670" y="1680210"/>
            <a:ext cx="431800" cy="381000"/>
          </a:xfrm>
          <a:prstGeom prst="roundRect">
            <a:avLst>
              <a:gd name="adj" fmla="val 25000"/>
            </a:avLst>
          </a:prstGeom>
          <a:solidFill>
            <a:srgbClr val="A9C7E8"/>
          </a:solidFill>
          <a:ln>
            <a:noFill/>
          </a:ln>
        </p:spPr>
      </p:sp>
      <p:sp>
        <p:nvSpPr>
          <p:cNvPr id="34" name="p2-q2"/>
          <p:cNvSpPr/>
          <p:nvPr/>
        </p:nvSpPr>
        <p:spPr>
          <a:xfrm>
            <a:off x="7519670" y="2213610"/>
            <a:ext cx="431800" cy="381000"/>
          </a:xfrm>
          <a:prstGeom prst="roundRect">
            <a:avLst>
              <a:gd name="adj" fmla="val 25000"/>
            </a:avLst>
          </a:prstGeom>
          <a:solidFill>
            <a:srgbClr val="A9C7E8"/>
          </a:solidFill>
          <a:ln>
            <a:noFill/>
          </a:ln>
        </p:spPr>
      </p:sp>
      <p:sp>
        <p:nvSpPr>
          <p:cNvPr id="35" name="p2-a0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eyJ2aWV3Qm94IjpbMzYsMl0sInBvaW50cyI6IjAsMSAzNiwxIiwiY3VydmUiOiJzaGFycCJ9</pptd:line>
              </p:ext>
            </p:extLst>
          </p:nvPr>
        </p:nvSpPr>
        <p:spPr>
          <a:xfrm>
            <a:off x="8027670" y="1858010"/>
            <a:ext cx="457200" cy="25400"/>
          </a:xfrm>
          <a:custGeom>
            <a:avLst/>
            <a:gdLst/>
            <a:ahLst/>
            <a:cxnLst/>
            <a:rect l="l" t="t" r="r" b="b"/>
            <a:pathLst>
              <a:path w="36" h="2">
                <a:moveTo>
                  <a:pt x="0" y="1"/>
                </a:moveTo>
                <a:lnTo>
                  <a:pt x="36" y="1"/>
                </a:lnTo>
              </a:path>
            </a:pathLst>
          </a:custGeom>
          <a:noFill/>
          <a:ln w="25400">
            <a:solidFill>
              <a:srgbClr val="2673B7"/>
            </a:solidFill>
            <a:tailEnd type="arrow"/>
          </a:ln>
        </p:spPr>
      </p:sp>
      <p:sp>
        <p:nvSpPr>
          <p:cNvPr id="36" name="p2-dia"/>
          <p:cNvSpPr/>
          <p:nvPr/>
        </p:nvSpPr>
        <p:spPr>
          <a:xfrm>
            <a:off x="8561070" y="1489710"/>
            <a:ext cx="939800" cy="736600"/>
          </a:xfrm>
          <a:prstGeom prst="diamond">
            <a:avLst/>
          </a:prstGeom>
          <a:solidFill>
            <a:srgbClr val="2673B7"/>
          </a:solidFill>
          <a:ln>
            <a:noFill/>
          </a:ln>
        </p:spPr>
      </p:sp>
      <p:sp>
        <p:nvSpPr>
          <p:cNvPr id="37" name="p2-dia-t"/>
          <p:cNvSpPr txBox="1"/>
          <p:nvPr/>
        </p:nvSpPr>
        <p:spPr>
          <a:xfrm>
            <a:off x="8561070" y="1489710"/>
            <a:ext cx="939800" cy="736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>
                <a:solidFill>
                  <a:srgbClr val="FFFFFF"/>
                </a:solidFill>
                <a:latin typeface="阿里巴巴普惠体 R"/>
                <a:ea typeface="阿里巴巴普惠体 R"/>
              </a:rPr>
              <a:t>路由器</a:t>
            </a:r>
            <a:endParaRPr lang="en-US" sz="1400" noProof="1"/>
          </a:p>
        </p:txBody>
      </p:sp>
      <p:sp>
        <p:nvSpPr>
          <p:cNvPr id="38" name="p2-a1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eyJ2aWV3Qm94IjpbNTYsNDJdLCJwb2ludHMiOiIwLDQyIDU2LDAiLCJjdXJ2ZSI6InNoYXJwIn0</pptd:line>
              </p:ext>
            </p:extLst>
          </p:nvPr>
        </p:nvSpPr>
        <p:spPr>
          <a:xfrm>
            <a:off x="9500870" y="1299210"/>
            <a:ext cx="711200" cy="533400"/>
          </a:xfrm>
          <a:custGeom>
            <a:avLst/>
            <a:gdLst/>
            <a:ahLst/>
            <a:cxnLst/>
            <a:rect l="l" t="t" r="r" b="b"/>
            <a:pathLst>
              <a:path w="56" h="42">
                <a:moveTo>
                  <a:pt x="0" y="42"/>
                </a:moveTo>
                <a:lnTo>
                  <a:pt x="56" y="0"/>
                </a:lnTo>
              </a:path>
            </a:pathLst>
          </a:custGeom>
          <a:noFill/>
          <a:ln w="25400">
            <a:solidFill>
              <a:srgbClr val="2673B7"/>
            </a:solidFill>
            <a:tailEnd type="arrow"/>
          </a:ln>
        </p:spPr>
      </p:sp>
      <p:sp>
        <p:nvSpPr>
          <p:cNvPr id="39" name="p2-a2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eyJ2aWV3Qm94IjpbNTYsNDJdLCJwb2ludHMiOiIwLDAgNTYsNDIiLCJjdXJ2ZSI6InNoYXJwIn0</pptd:line>
              </p:ext>
            </p:extLst>
          </p:nvPr>
        </p:nvSpPr>
        <p:spPr>
          <a:xfrm>
            <a:off x="9500870" y="2061210"/>
            <a:ext cx="711200" cy="533400"/>
          </a:xfrm>
          <a:custGeom>
            <a:avLst/>
            <a:gdLst/>
            <a:ahLst/>
            <a:cxnLst/>
            <a:rect l="l" t="t" r="r" b="b"/>
            <a:pathLst>
              <a:path w="56" h="42">
                <a:moveTo>
                  <a:pt x="0" y="0"/>
                </a:moveTo>
                <a:lnTo>
                  <a:pt x="56" y="42"/>
                </a:lnTo>
              </a:path>
            </a:pathLst>
          </a:custGeom>
          <a:noFill/>
          <a:ln w="25400">
            <a:solidFill>
              <a:srgbClr val="2673B7"/>
            </a:solidFill>
            <a:tailEnd type="arrow"/>
          </a:ln>
        </p:spPr>
      </p:sp>
      <p:sp>
        <p:nvSpPr>
          <p:cNvPr id="40" name="p2-big"/>
          <p:cNvSpPr/>
          <p:nvPr/>
        </p:nvSpPr>
        <p:spPr>
          <a:xfrm>
            <a:off x="10262870" y="1019810"/>
            <a:ext cx="1651000" cy="558800"/>
          </a:xfrm>
          <a:prstGeom prst="roundRect">
            <a:avLst>
              <a:gd name="adj" fmla="val 25000"/>
            </a:avLst>
          </a:prstGeom>
          <a:solidFill>
            <a:srgbClr val="122E66"/>
          </a:solidFill>
          <a:ln>
            <a:noFill/>
          </a:ln>
        </p:spPr>
      </p:sp>
      <p:sp>
        <p:nvSpPr>
          <p:cNvPr id="41" name="p2-big-t"/>
          <p:cNvSpPr txBox="1"/>
          <p:nvPr/>
        </p:nvSpPr>
        <p:spPr>
          <a:xfrm>
            <a:off x="10262870" y="1019810"/>
            <a:ext cx="16510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noProof="1">
                <a:solidFill>
                  <a:srgbClr val="FFFFFF"/>
                </a:solidFill>
                <a:latin typeface="阿里巴巴普惠体 R"/>
                <a:ea typeface="阿里巴巴普惠体 R"/>
              </a:rPr>
              <a:t>大模型</a:t>
            </a:r>
            <a:endParaRPr lang="en-US" noProof="1"/>
          </a:p>
        </p:txBody>
      </p:sp>
      <p:sp>
        <p:nvSpPr>
          <p:cNvPr id="42" name="p2-small"/>
          <p:cNvSpPr/>
          <p:nvPr/>
        </p:nvSpPr>
        <p:spPr>
          <a:xfrm>
            <a:off x="10262870" y="2289810"/>
            <a:ext cx="1651000" cy="558800"/>
          </a:xfrm>
          <a:prstGeom prst="roundRect">
            <a:avLst>
              <a:gd name="adj" fmla="val 25000"/>
            </a:avLst>
          </a:prstGeom>
          <a:solidFill>
            <a:srgbClr val="A9C7E8"/>
          </a:solidFill>
          <a:ln>
            <a:noFill/>
          </a:ln>
        </p:spPr>
      </p:sp>
      <p:sp>
        <p:nvSpPr>
          <p:cNvPr id="43" name="p2-small-t"/>
          <p:cNvSpPr txBox="1"/>
          <p:nvPr/>
        </p:nvSpPr>
        <p:spPr>
          <a:xfrm>
            <a:off x="10262870" y="2289810"/>
            <a:ext cx="16510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noProof="1">
                <a:solidFill>
                  <a:srgbClr val="262626"/>
                </a:solidFill>
                <a:latin typeface="阿里巴巴普惠体 R"/>
                <a:ea typeface="阿里巴巴普惠体 R"/>
              </a:rPr>
              <a:t>小模型</a:t>
            </a:r>
            <a:endParaRPr lang="en-US" noProof="1"/>
          </a:p>
        </p:txBody>
      </p:sp>
      <p:sp>
        <p:nvSpPr>
          <p:cNvPr id="44" name="p2-bl"/>
          <p:cNvSpPr txBox="1"/>
          <p:nvPr/>
        </p:nvSpPr>
        <p:spPr>
          <a:xfrm>
            <a:off x="7392670" y="2975610"/>
            <a:ext cx="46482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  <a:spcBef>
                <a:spcPts val="10"/>
              </a:spcBef>
              <a:buChar char="•"/>
            </a:pPr>
            <a:r>
              <a:rPr lang="en-US" sz="1400" noProof="1">
                <a:solidFill>
                  <a:srgbClr val="262626"/>
                </a:solidFill>
                <a:latin typeface="阿里巴巴普惠体 R"/>
                <a:ea typeface="阿里巴巴普惠体 R"/>
              </a:rPr>
              <a:t>简单</a:t>
            </a:r>
            <a:r>
              <a:rPr lang="zh-CN" altLang="en-US" sz="1400" noProof="1">
                <a:solidFill>
                  <a:srgbClr val="262626"/>
                </a:solidFill>
                <a:latin typeface="阿里巴巴普惠体 R"/>
                <a:ea typeface="阿里巴巴普惠体 R"/>
              </a:rPr>
              <a:t>任务</a:t>
            </a:r>
            <a:r>
              <a:rPr lang="en-US" sz="1400" noProof="1">
                <a:solidFill>
                  <a:srgbClr val="262626"/>
                </a:solidFill>
                <a:latin typeface="阿里巴巴普惠体 R"/>
                <a:ea typeface="阿里巴巴普惠体 R"/>
              </a:rPr>
              <a:t>交给小模型，复杂</a:t>
            </a:r>
            <a:r>
              <a:rPr lang="zh-CN" altLang="en-US" sz="1400" noProof="1">
                <a:solidFill>
                  <a:srgbClr val="262626"/>
                </a:solidFill>
                <a:latin typeface="阿里巴巴普惠体 R"/>
                <a:ea typeface="阿里巴巴普惠体 R"/>
              </a:rPr>
              <a:t>任务</a:t>
            </a:r>
            <a:r>
              <a:rPr lang="en-US" sz="1400" noProof="1">
                <a:solidFill>
                  <a:srgbClr val="262626"/>
                </a:solidFill>
                <a:latin typeface="阿里巴巴普惠体 R"/>
                <a:ea typeface="阿里巴巴普惠体 R"/>
              </a:rPr>
              <a:t>整体仍交给大模型</a:t>
            </a:r>
            <a:endParaRPr lang="en-US" sz="1400" noProof="1"/>
          </a:p>
          <a:p>
            <a:pPr>
              <a:lnSpc>
                <a:spcPct val="150000"/>
              </a:lnSpc>
              <a:spcBef>
                <a:spcPts val="10"/>
              </a:spcBef>
              <a:buChar char="•"/>
            </a:pPr>
            <a:r>
              <a:rPr lang="en-US" sz="1400" noProof="1">
                <a:solidFill>
                  <a:srgbClr val="262626"/>
                </a:solidFill>
                <a:latin typeface="阿里巴巴普惠体 R"/>
                <a:ea typeface="阿里巴巴普惠体 R"/>
              </a:rPr>
              <a:t>无法利用一个复杂</a:t>
            </a:r>
            <a:r>
              <a:rPr lang="zh-CN" altLang="en-US" sz="1400" noProof="1">
                <a:solidFill>
                  <a:srgbClr val="262626"/>
                </a:solidFill>
                <a:latin typeface="阿里巴巴普惠体 R"/>
                <a:ea typeface="阿里巴巴普惠体 R"/>
              </a:rPr>
              <a:t>任务</a:t>
            </a:r>
            <a:r>
              <a:rPr lang="en-US" sz="1400" noProof="1">
                <a:solidFill>
                  <a:srgbClr val="262626"/>
                </a:solidFill>
                <a:latin typeface="阿里巴巴普惠体 R"/>
                <a:ea typeface="阿里巴巴普惠体 R"/>
              </a:rPr>
              <a:t>内部的难度差异</a:t>
            </a:r>
            <a:endParaRPr lang="en-US" sz="1400" noProof="1"/>
          </a:p>
        </p:txBody>
      </p:sp>
      <p:sp>
        <p:nvSpPr>
          <p:cNvPr id="45" name="p3-band"/>
          <p:cNvSpPr/>
          <p:nvPr/>
        </p:nvSpPr>
        <p:spPr>
          <a:xfrm>
            <a:off x="1957070" y="3915410"/>
            <a:ext cx="10185400" cy="711200"/>
          </a:xfrm>
          <a:prstGeom prst="roundRect">
            <a:avLst>
              <a:gd name="adj" fmla="val 18000"/>
            </a:avLst>
          </a:prstGeom>
          <a:solidFill>
            <a:srgbClr val="DCE9F7"/>
          </a:solidFill>
          <a:ln>
            <a:noFill/>
          </a:ln>
        </p:spPr>
      </p:sp>
      <p:sp>
        <p:nvSpPr>
          <p:cNvPr id="46" name="p3-con"/>
          <p:cNvSpPr txBox="1"/>
          <p:nvPr/>
        </p:nvSpPr>
        <p:spPr>
          <a:xfrm>
            <a:off x="2211070" y="3915410"/>
            <a:ext cx="96774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noProof="1">
                <a:solidFill>
                  <a:schemeClr val="accent3"/>
                </a:solidFill>
                <a:latin typeface="阿里巴巴普惠体 R"/>
                <a:ea typeface="阿里巴巴普惠体 R"/>
              </a:rPr>
              <a:t>两种方式下，复杂</a:t>
            </a:r>
            <a:r>
              <a:rPr lang="zh-CN" altLang="en-US" sz="1400" b="1" noProof="1">
                <a:solidFill>
                  <a:schemeClr val="accent3"/>
                </a:solidFill>
                <a:latin typeface="阿里巴巴普惠体 R"/>
                <a:ea typeface="阿里巴巴普惠体 R"/>
              </a:rPr>
              <a:t>任务</a:t>
            </a:r>
            <a:r>
              <a:rPr lang="en-US" sz="1400" b="1" noProof="1">
                <a:solidFill>
                  <a:schemeClr val="accent3"/>
                </a:solidFill>
                <a:latin typeface="阿里巴巴普惠体 R"/>
                <a:ea typeface="阿里巴巴普惠体 R"/>
              </a:rPr>
              <a:t>内部的简单步骤仍由大模型执行</a:t>
            </a:r>
            <a:r>
              <a:rPr lang="en-US" sz="1400" b="1" noProof="1">
                <a:solidFill>
                  <a:srgbClr val="C00000"/>
                </a:solidFill>
                <a:latin typeface="阿里巴巴普惠体 R"/>
                <a:ea typeface="阿里巴巴普惠体 R"/>
              </a:rPr>
              <a:t> —— 整题路由无法利用问题内部的难度差异</a:t>
            </a:r>
            <a:endParaRPr lang="en-US" sz="1400" noProof="1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AB3E9F44-A419-DD99-E5E7-2272F491D7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081" y="4930346"/>
            <a:ext cx="11318919" cy="18969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strip"/>
          <p:cNvSpPr/>
          <p:nvPr/>
        </p:nvSpPr>
        <p:spPr>
          <a:xfrm>
            <a:off x="0" y="-11430"/>
            <a:ext cx="12192000" cy="175260"/>
          </a:xfrm>
          <a:prstGeom prst="rect">
            <a:avLst/>
          </a:prstGeom>
          <a:solidFill>
            <a:srgbClr val="122E66"/>
          </a:solidFill>
          <a:ln>
            <a:noFill/>
          </a:ln>
        </p:spPr>
      </p:sp>
      <p:sp>
        <p:nvSpPr>
          <p:cNvPr id="3" name="nav-panel"/>
          <p:cNvSpPr/>
          <p:nvPr/>
        </p:nvSpPr>
        <p:spPr>
          <a:xfrm>
            <a:off x="0" y="163830"/>
            <a:ext cx="1164590" cy="66865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" name="nav-hl"/>
          <p:cNvSpPr/>
          <p:nvPr/>
        </p:nvSpPr>
        <p:spPr>
          <a:xfrm>
            <a:off x="-6350" y="1892300"/>
            <a:ext cx="1164590" cy="36449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5" name="nav-0"/>
          <p:cNvSpPr txBox="1"/>
          <p:nvPr/>
        </p:nvSpPr>
        <p:spPr>
          <a:xfrm>
            <a:off x="85090" y="1894840"/>
            <a:ext cx="981710" cy="3086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zh-CN" altLang="en-US" sz="1400" noProof="1">
                <a:solidFill>
                  <a:srgbClr val="262626"/>
                </a:solidFill>
                <a:latin typeface="阿里巴巴普惠体 R"/>
                <a:ea typeface="阿里巴巴普惠体 R"/>
              </a:rPr>
              <a:t>问题背景</a:t>
            </a:r>
            <a:endParaRPr lang="en-US" altLang="zh-CN" sz="1400" noProof="1"/>
          </a:p>
        </p:txBody>
      </p:sp>
      <p:sp>
        <p:nvSpPr>
          <p:cNvPr id="6" name="nav-1"/>
          <p:cNvSpPr txBox="1"/>
          <p:nvPr/>
        </p:nvSpPr>
        <p:spPr>
          <a:xfrm>
            <a:off x="85090" y="2550160"/>
            <a:ext cx="981710" cy="3086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zh-CN" altLang="en-US" sz="1400" noProof="1">
                <a:solidFill>
                  <a:srgbClr val="808080"/>
                </a:solidFill>
                <a:latin typeface="阿里巴巴普惠体 R"/>
              </a:rPr>
              <a:t>相关工作</a:t>
            </a:r>
            <a:endParaRPr lang="en-US" altLang="zh-CN" sz="1400" noProof="1"/>
          </a:p>
        </p:txBody>
      </p:sp>
      <p:sp>
        <p:nvSpPr>
          <p:cNvPr id="7" name="nav-2"/>
          <p:cNvSpPr txBox="1"/>
          <p:nvPr/>
        </p:nvSpPr>
        <p:spPr>
          <a:xfrm>
            <a:off x="85090" y="3205480"/>
            <a:ext cx="981710" cy="3086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zh-CN" altLang="en-US" sz="1400" noProof="1">
                <a:solidFill>
                  <a:srgbClr val="808080"/>
                </a:solidFill>
                <a:latin typeface="阿里巴巴普惠体 R"/>
                <a:ea typeface="阿里巴巴普惠体 R"/>
              </a:rPr>
              <a:t>具体工作</a:t>
            </a:r>
            <a:endParaRPr lang="en-US" sz="1400" noProof="1"/>
          </a:p>
        </p:txBody>
      </p:sp>
      <p:sp>
        <p:nvSpPr>
          <p:cNvPr id="8" name="nav-3"/>
          <p:cNvSpPr txBox="1"/>
          <p:nvPr/>
        </p:nvSpPr>
        <p:spPr>
          <a:xfrm>
            <a:off x="85090" y="3862070"/>
            <a:ext cx="981710" cy="3086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noProof="1">
                <a:solidFill>
                  <a:srgbClr val="808080"/>
                </a:solidFill>
                <a:latin typeface="阿里巴巴普惠体 R"/>
                <a:ea typeface="阿里巴巴普惠体 R"/>
              </a:rPr>
              <a:t>研究计划</a:t>
            </a:r>
            <a:endParaRPr lang="en-US" sz="1400" noProof="1"/>
          </a:p>
        </p:txBody>
      </p:sp>
      <p:sp>
        <p:nvSpPr>
          <p:cNvPr id="10" name="logo"/>
          <p:cNvSpPr/>
          <p:nvPr/>
        </p:nvSpPr>
        <p:spPr>
          <a:xfrm>
            <a:off x="49530" y="257810"/>
            <a:ext cx="1047750" cy="815340"/>
          </a:xfrm>
          <a:custGeom>
            <a:avLst/>
            <a:gdLst/>
            <a:ahLst/>
            <a:cxnLst/>
            <a:rect l="l" t="t" r="r" b="b"/>
            <a:pathLst>
              <a:path w="2036266" h="1623111">
                <a:moveTo>
                  <a:pt x="0" y="0"/>
                </a:moveTo>
                <a:lnTo>
                  <a:pt x="2036266" y="0"/>
                </a:lnTo>
                <a:lnTo>
                  <a:pt x="2036266" y="1623111"/>
                </a:lnTo>
                <a:lnTo>
                  <a:pt x="0" y="16231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</p:spPr>
      </p:sp>
      <p:sp>
        <p:nvSpPr>
          <p:cNvPr id="11" name="hd-line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eyJ2aWV3Qm94IjpbMSwyNy4yXSwicG9pbnRzIjoiMC41LDAgMC41LDI3LjIiLCJjdXJ2ZSI6InNoYXJwIn0</pptd:line>
              </p:ext>
            </p:extLst>
          </p:nvPr>
        </p:nvSpPr>
        <p:spPr>
          <a:xfrm>
            <a:off x="1625600" y="431800"/>
            <a:ext cx="12700" cy="345440"/>
          </a:xfrm>
          <a:custGeom>
            <a:avLst/>
            <a:gdLst/>
            <a:ahLst/>
            <a:cxnLst/>
            <a:rect l="l" t="t" r="r" b="b"/>
            <a:pathLst>
              <a:path w="1" h="27">
                <a:moveTo>
                  <a:pt x="1" y="0"/>
                </a:moveTo>
                <a:lnTo>
                  <a:pt x="1" y="27"/>
                </a:lnTo>
              </a:path>
            </a:pathLst>
          </a:custGeom>
          <a:noFill/>
          <a:ln w="92075">
            <a:solidFill>
              <a:srgbClr val="122E66"/>
            </a:solidFill>
          </a:ln>
        </p:spPr>
      </p:sp>
      <p:sp>
        <p:nvSpPr>
          <p:cNvPr id="13" name="hd-title"/>
          <p:cNvSpPr txBox="1"/>
          <p:nvPr/>
        </p:nvSpPr>
        <p:spPr>
          <a:xfrm>
            <a:off x="2301240" y="458470"/>
            <a:ext cx="9525000" cy="3086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noProof="1">
                <a:solidFill>
                  <a:srgbClr val="000000"/>
                </a:solidFill>
                <a:latin typeface="OPPOSans B"/>
                <a:ea typeface="OPPOSans B"/>
              </a:rPr>
              <a:t>问题内部的能力异质性，是进一步降低服务成本的主要机会</a:t>
            </a:r>
            <a:endParaRPr lang="en-US" sz="2000" noProof="1"/>
          </a:p>
        </p:txBody>
      </p:sp>
      <p:sp>
        <p:nvSpPr>
          <p:cNvPr id="15" name="hd-div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eyJ2aWV3Qm94IjpbODEwLjYsMV0sInBvaW50cyI6IjAsMC41IDgxMC42LDAuNSIsImN1cnZlIjoic2hhcnAifQ</pptd:line>
              </p:ext>
            </p:extLst>
          </p:nvPr>
        </p:nvSpPr>
        <p:spPr>
          <a:xfrm>
            <a:off x="1625600" y="1121410"/>
            <a:ext cx="10294620" cy="12700"/>
          </a:xfrm>
          <a:custGeom>
            <a:avLst/>
            <a:gdLst/>
            <a:ahLst/>
            <a:cxnLst/>
            <a:rect l="l" t="t" r="r" b="b"/>
            <a:pathLst>
              <a:path w="811" h="1">
                <a:moveTo>
                  <a:pt x="0" y="1"/>
                </a:moveTo>
                <a:lnTo>
                  <a:pt x="811" y="1"/>
                </a:lnTo>
              </a:path>
            </a:pathLst>
          </a:custGeom>
          <a:noFill/>
          <a:ln w="12700">
            <a:solidFill>
              <a:srgbClr val="D9D9D9"/>
            </a:solidFill>
          </a:ln>
        </p:spPr>
      </p:sp>
      <p:sp>
        <p:nvSpPr>
          <p:cNvPr id="18" name="p4-cap"/>
          <p:cNvSpPr txBox="1"/>
          <p:nvPr/>
        </p:nvSpPr>
        <p:spPr>
          <a:xfrm>
            <a:off x="1625600" y="1320800"/>
            <a:ext cx="10312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noProof="1">
                <a:latin typeface="阿里巴巴普惠体 R"/>
                <a:ea typeface="阿里巴巴普惠体 R"/>
              </a:rPr>
              <a:t>示例问题：</a:t>
            </a:r>
            <a:r>
              <a:rPr lang="en-US" sz="1250" b="1" noProof="1">
                <a:latin typeface="阿里巴巴普惠体 R"/>
                <a:ea typeface="阿里巴巴普惠体 R"/>
              </a:rPr>
              <a:t>完成一份技术调研并给出带依据的结论</a:t>
            </a:r>
            <a:endParaRPr lang="en-US" sz="1250" noProof="1"/>
          </a:p>
        </p:txBody>
      </p:sp>
      <p:sp>
        <p:nvSpPr>
          <p:cNvPr id="19" name="p4-n0"/>
          <p:cNvSpPr/>
          <p:nvPr/>
        </p:nvSpPr>
        <p:spPr>
          <a:xfrm>
            <a:off x="1778000" y="2032000"/>
            <a:ext cx="1778000" cy="838200"/>
          </a:xfrm>
          <a:prstGeom prst="roundRect">
            <a:avLst>
              <a:gd name="adj" fmla="val 30000"/>
            </a:avLst>
          </a:prstGeom>
          <a:solidFill>
            <a:srgbClr val="122E66"/>
          </a:solidFill>
          <a:ln>
            <a:noFill/>
          </a:ln>
        </p:spPr>
      </p:sp>
      <p:sp>
        <p:nvSpPr>
          <p:cNvPr id="20" name="p4-n0-t"/>
          <p:cNvSpPr txBox="1"/>
          <p:nvPr/>
        </p:nvSpPr>
        <p:spPr>
          <a:xfrm>
            <a:off x="1803400" y="2032000"/>
            <a:ext cx="17272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en-US" sz="1400" b="1" noProof="1">
                <a:solidFill>
                  <a:srgbClr val="FFFFFF"/>
                </a:solidFill>
                <a:latin typeface="阿里巴巴普惠体 R"/>
                <a:ea typeface="阿里巴巴普惠体 R"/>
              </a:rPr>
              <a:t>问题分析与规划</a:t>
            </a:r>
            <a:endParaRPr lang="en-US" sz="1400" b="1" noProof="1"/>
          </a:p>
          <a:p>
            <a:pPr algn="ctr">
              <a:lnSpc>
                <a:spcPct val="115000"/>
              </a:lnSpc>
            </a:pPr>
            <a:r>
              <a:rPr lang="en-US" sz="1000" noProof="1">
                <a:solidFill>
                  <a:srgbClr val="FFFFFF"/>
                </a:solidFill>
                <a:latin typeface="阿里巴巴普惠体 R"/>
                <a:ea typeface="阿里巴巴普惠体 R"/>
              </a:rPr>
              <a:t>强模型更有价值</a:t>
            </a:r>
            <a:endParaRPr lang="en-US" sz="1400" noProof="1"/>
          </a:p>
        </p:txBody>
      </p:sp>
      <p:sp>
        <p:nvSpPr>
          <p:cNvPr id="21" name="p4-a0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eyJ2aWV3Qm94IjpbMjAsMl0sInBvaW50cyI6IjAsMSAyMCwxIiwiY3VydmUiOiJzaGFycCJ9</pptd:line>
              </p:ext>
            </p:extLst>
          </p:nvPr>
        </p:nvSpPr>
        <p:spPr>
          <a:xfrm>
            <a:off x="3581400" y="243840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0" h="2">
                <a:moveTo>
                  <a:pt x="0" y="1"/>
                </a:moveTo>
                <a:lnTo>
                  <a:pt x="20" y="1"/>
                </a:lnTo>
              </a:path>
            </a:pathLst>
          </a:custGeom>
          <a:noFill/>
          <a:ln w="25400">
            <a:solidFill>
              <a:srgbClr val="2673B7"/>
            </a:solidFill>
            <a:tailEnd type="arrow"/>
          </a:ln>
        </p:spPr>
      </p:sp>
      <p:sp>
        <p:nvSpPr>
          <p:cNvPr id="22" name="p4-n1"/>
          <p:cNvSpPr/>
          <p:nvPr/>
        </p:nvSpPr>
        <p:spPr>
          <a:xfrm>
            <a:off x="3835400" y="2032000"/>
            <a:ext cx="1778000" cy="838200"/>
          </a:xfrm>
          <a:prstGeom prst="roundRect">
            <a:avLst>
              <a:gd name="adj" fmla="val 30000"/>
            </a:avLst>
          </a:prstGeom>
          <a:solidFill>
            <a:srgbClr val="A9C7E8"/>
          </a:solidFill>
          <a:ln>
            <a:noFill/>
          </a:ln>
        </p:spPr>
      </p:sp>
      <p:sp>
        <p:nvSpPr>
          <p:cNvPr id="23" name="p4-n1-t"/>
          <p:cNvSpPr txBox="1"/>
          <p:nvPr/>
        </p:nvSpPr>
        <p:spPr>
          <a:xfrm>
            <a:off x="3860800" y="2032000"/>
            <a:ext cx="17272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en-US" sz="1400" b="1" noProof="1">
                <a:solidFill>
                  <a:srgbClr val="262626"/>
                </a:solidFill>
                <a:latin typeface="阿里巴巴普惠体 R"/>
                <a:ea typeface="阿里巴巴普惠体 R"/>
              </a:rPr>
              <a:t>查询改写与资料检索</a:t>
            </a:r>
            <a:endParaRPr lang="en-US" sz="1400" b="1" noProof="1"/>
          </a:p>
          <a:p>
            <a:pPr algn="ctr">
              <a:lnSpc>
                <a:spcPct val="115000"/>
              </a:lnSpc>
            </a:pPr>
            <a:r>
              <a:rPr lang="en-US" sz="1000" noProof="1">
                <a:solidFill>
                  <a:srgbClr val="262626"/>
                </a:solidFill>
                <a:latin typeface="阿里巴巴普惠体 R"/>
                <a:ea typeface="阿里巴巴普惠体 R"/>
              </a:rPr>
              <a:t>小模型或工具即可</a:t>
            </a:r>
            <a:endParaRPr lang="en-US" sz="1400" noProof="1"/>
          </a:p>
        </p:txBody>
      </p:sp>
      <p:sp>
        <p:nvSpPr>
          <p:cNvPr id="24" name="p4-a1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eyJ2aWV3Qm94IjpbMjAsMl0sInBvaW50cyI6IjAsMSAyMCwxIiwiY3VydmUiOiJzaGFycCJ9</pptd:line>
              </p:ext>
            </p:extLst>
          </p:nvPr>
        </p:nvSpPr>
        <p:spPr>
          <a:xfrm>
            <a:off x="5638800" y="243840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0" h="2">
                <a:moveTo>
                  <a:pt x="0" y="1"/>
                </a:moveTo>
                <a:lnTo>
                  <a:pt x="20" y="1"/>
                </a:lnTo>
              </a:path>
            </a:pathLst>
          </a:custGeom>
          <a:noFill/>
          <a:ln w="25400">
            <a:solidFill>
              <a:srgbClr val="2673B7"/>
            </a:solidFill>
            <a:tailEnd type="arrow"/>
          </a:ln>
        </p:spPr>
      </p:sp>
      <p:sp>
        <p:nvSpPr>
          <p:cNvPr id="25" name="p4-n2"/>
          <p:cNvSpPr/>
          <p:nvPr/>
        </p:nvSpPr>
        <p:spPr>
          <a:xfrm>
            <a:off x="5892800" y="2032000"/>
            <a:ext cx="1778000" cy="838200"/>
          </a:xfrm>
          <a:prstGeom prst="roundRect">
            <a:avLst>
              <a:gd name="adj" fmla="val 30000"/>
            </a:avLst>
          </a:prstGeom>
          <a:solidFill>
            <a:srgbClr val="A9C7E8"/>
          </a:solidFill>
          <a:ln>
            <a:noFill/>
          </a:ln>
        </p:spPr>
      </p:sp>
      <p:sp>
        <p:nvSpPr>
          <p:cNvPr id="26" name="p4-n2-t"/>
          <p:cNvSpPr txBox="1"/>
          <p:nvPr/>
        </p:nvSpPr>
        <p:spPr>
          <a:xfrm>
            <a:off x="5918200" y="2032000"/>
            <a:ext cx="17272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en-US" sz="1400" b="1" noProof="1">
                <a:solidFill>
                  <a:srgbClr val="262626"/>
                </a:solidFill>
                <a:latin typeface="阿里巴巴普惠体 R"/>
                <a:ea typeface="阿里巴巴普惠体 R"/>
              </a:rPr>
              <a:t>证据抽取与格式整理</a:t>
            </a:r>
            <a:endParaRPr lang="en-US" sz="1400" b="1" noProof="1"/>
          </a:p>
          <a:p>
            <a:pPr algn="ctr">
              <a:lnSpc>
                <a:spcPct val="115000"/>
              </a:lnSpc>
            </a:pPr>
            <a:r>
              <a:rPr lang="en-US" sz="1000" noProof="1">
                <a:solidFill>
                  <a:srgbClr val="262626"/>
                </a:solidFill>
                <a:latin typeface="阿里巴巴普惠体 R"/>
                <a:ea typeface="阿里巴巴普惠体 R"/>
              </a:rPr>
              <a:t>小模型即可</a:t>
            </a:r>
            <a:endParaRPr lang="en-US" sz="1400" noProof="1"/>
          </a:p>
        </p:txBody>
      </p:sp>
      <p:sp>
        <p:nvSpPr>
          <p:cNvPr id="27" name="p4-a2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eyJ2aWV3Qm94IjpbMjAsMl0sInBvaW50cyI6IjAsMSAyMCwxIiwiY3VydmUiOiJzaGFycCJ9</pptd:line>
              </p:ext>
            </p:extLst>
          </p:nvPr>
        </p:nvSpPr>
        <p:spPr>
          <a:xfrm>
            <a:off x="7696200" y="243840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0" h="2">
                <a:moveTo>
                  <a:pt x="0" y="1"/>
                </a:moveTo>
                <a:lnTo>
                  <a:pt x="20" y="1"/>
                </a:lnTo>
              </a:path>
            </a:pathLst>
          </a:custGeom>
          <a:noFill/>
          <a:ln w="25400">
            <a:solidFill>
              <a:srgbClr val="2673B7"/>
            </a:solidFill>
            <a:tailEnd type="arrow"/>
          </a:ln>
        </p:spPr>
      </p:sp>
      <p:sp>
        <p:nvSpPr>
          <p:cNvPr id="28" name="p4-n3"/>
          <p:cNvSpPr/>
          <p:nvPr/>
        </p:nvSpPr>
        <p:spPr>
          <a:xfrm>
            <a:off x="7950200" y="2032000"/>
            <a:ext cx="1778000" cy="838200"/>
          </a:xfrm>
          <a:prstGeom prst="roundRect">
            <a:avLst>
              <a:gd name="adj" fmla="val 30000"/>
            </a:avLst>
          </a:prstGeom>
          <a:solidFill>
            <a:srgbClr val="122E66"/>
          </a:solidFill>
          <a:ln>
            <a:noFill/>
          </a:ln>
        </p:spPr>
      </p:sp>
      <p:sp>
        <p:nvSpPr>
          <p:cNvPr id="29" name="p4-n3-t"/>
          <p:cNvSpPr txBox="1"/>
          <p:nvPr/>
        </p:nvSpPr>
        <p:spPr>
          <a:xfrm>
            <a:off x="7975600" y="2032000"/>
            <a:ext cx="17272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en-US" sz="1400" b="1" noProof="1">
                <a:solidFill>
                  <a:srgbClr val="FFFFFF"/>
                </a:solidFill>
                <a:latin typeface="阿里巴巴普惠体 R"/>
                <a:ea typeface="阿里巴巴普惠体 R"/>
              </a:rPr>
              <a:t>冲突分析与综合判断</a:t>
            </a:r>
            <a:endParaRPr lang="en-US" sz="1400" b="1" noProof="1"/>
          </a:p>
          <a:p>
            <a:pPr algn="ctr">
              <a:lnSpc>
                <a:spcPct val="115000"/>
              </a:lnSpc>
            </a:pPr>
            <a:r>
              <a:rPr lang="en-US" sz="1000" noProof="1">
                <a:solidFill>
                  <a:srgbClr val="FFFFFF"/>
                </a:solidFill>
                <a:latin typeface="阿里巴巴普惠体 R"/>
                <a:ea typeface="阿里巴巴普惠体 R"/>
              </a:rPr>
              <a:t>强模型更可靠</a:t>
            </a:r>
            <a:endParaRPr lang="en-US" sz="1400" noProof="1"/>
          </a:p>
        </p:txBody>
      </p:sp>
      <p:sp>
        <p:nvSpPr>
          <p:cNvPr id="30" name="p4-a3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eyJ2aWV3Qm94IjpbMjAsMl0sInBvaW50cyI6IjAsMSAyMCwxIiwiY3VydmUiOiJzaGFycCJ9</pptd:line>
              </p:ext>
            </p:extLst>
          </p:nvPr>
        </p:nvSpPr>
        <p:spPr>
          <a:xfrm>
            <a:off x="9753600" y="243840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0" h="2">
                <a:moveTo>
                  <a:pt x="0" y="1"/>
                </a:moveTo>
                <a:lnTo>
                  <a:pt x="20" y="1"/>
                </a:lnTo>
              </a:path>
            </a:pathLst>
          </a:custGeom>
          <a:noFill/>
          <a:ln w="25400">
            <a:solidFill>
              <a:srgbClr val="2673B7"/>
            </a:solidFill>
            <a:tailEnd type="arrow"/>
          </a:ln>
        </p:spPr>
      </p:sp>
      <p:sp>
        <p:nvSpPr>
          <p:cNvPr id="31" name="p4-n4"/>
          <p:cNvSpPr/>
          <p:nvPr/>
        </p:nvSpPr>
        <p:spPr>
          <a:xfrm>
            <a:off x="10007600" y="2032000"/>
            <a:ext cx="1778000" cy="838200"/>
          </a:xfrm>
          <a:prstGeom prst="roundRect">
            <a:avLst>
              <a:gd name="adj" fmla="val 30000"/>
            </a:avLst>
          </a:prstGeom>
          <a:solidFill>
            <a:srgbClr val="D9D9D9"/>
          </a:solidFill>
          <a:ln>
            <a:noFill/>
          </a:ln>
        </p:spPr>
      </p:sp>
      <p:sp>
        <p:nvSpPr>
          <p:cNvPr id="32" name="p4-n4-t"/>
          <p:cNvSpPr txBox="1"/>
          <p:nvPr/>
        </p:nvSpPr>
        <p:spPr>
          <a:xfrm>
            <a:off x="10033000" y="2032000"/>
            <a:ext cx="17272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en-US" sz="1400" b="1" noProof="1">
                <a:solidFill>
                  <a:srgbClr val="262626"/>
                </a:solidFill>
                <a:latin typeface="阿里巴巴普惠体 R"/>
                <a:ea typeface="阿里巴巴普惠体 R"/>
              </a:rPr>
              <a:t>引用核验</a:t>
            </a:r>
            <a:endParaRPr lang="en-US" sz="1400" b="1" noProof="1"/>
          </a:p>
          <a:p>
            <a:pPr algn="ctr">
              <a:lnSpc>
                <a:spcPct val="115000"/>
              </a:lnSpc>
            </a:pPr>
            <a:r>
              <a:rPr lang="en-US" sz="1000" noProof="1">
                <a:solidFill>
                  <a:srgbClr val="262626"/>
                </a:solidFill>
                <a:latin typeface="阿里巴巴普惠体 R"/>
                <a:ea typeface="阿里巴巴普惠体 R"/>
              </a:rPr>
              <a:t>小模型或专用工具</a:t>
            </a:r>
            <a:endParaRPr lang="en-US" sz="1400" noProof="1"/>
          </a:p>
        </p:txBody>
      </p:sp>
      <p:sp>
        <p:nvSpPr>
          <p:cNvPr id="33" name="p4-lg0"/>
          <p:cNvSpPr/>
          <p:nvPr/>
        </p:nvSpPr>
        <p:spPr>
          <a:xfrm>
            <a:off x="2540000" y="3327400"/>
            <a:ext cx="177800" cy="177800"/>
          </a:xfrm>
          <a:prstGeom prst="rect">
            <a:avLst/>
          </a:prstGeom>
          <a:solidFill>
            <a:srgbClr val="122E66"/>
          </a:solidFill>
          <a:ln>
            <a:noFill/>
          </a:ln>
        </p:spPr>
      </p:sp>
      <p:sp>
        <p:nvSpPr>
          <p:cNvPr id="34" name="p4-lgt0"/>
          <p:cNvSpPr txBox="1"/>
          <p:nvPr/>
        </p:nvSpPr>
        <p:spPr>
          <a:xfrm>
            <a:off x="2794000" y="3302000"/>
            <a:ext cx="1778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262626"/>
                </a:solidFill>
                <a:latin typeface="阿里巴巴普惠体 R"/>
                <a:ea typeface="阿里巴巴普惠体 R"/>
              </a:rPr>
              <a:t>关键节点：大模型</a:t>
            </a:r>
            <a:endParaRPr lang="en-US" sz="1200" noProof="1"/>
          </a:p>
        </p:txBody>
      </p:sp>
      <p:sp>
        <p:nvSpPr>
          <p:cNvPr id="35" name="p4-lg1"/>
          <p:cNvSpPr/>
          <p:nvPr/>
        </p:nvSpPr>
        <p:spPr>
          <a:xfrm>
            <a:off x="4826000" y="3327400"/>
            <a:ext cx="177800" cy="177800"/>
          </a:xfrm>
          <a:prstGeom prst="rect">
            <a:avLst/>
          </a:prstGeom>
          <a:solidFill>
            <a:srgbClr val="A9C7E8"/>
          </a:solidFill>
          <a:ln>
            <a:noFill/>
          </a:ln>
        </p:spPr>
      </p:sp>
      <p:sp>
        <p:nvSpPr>
          <p:cNvPr id="36" name="p4-lgt1"/>
          <p:cNvSpPr txBox="1"/>
          <p:nvPr/>
        </p:nvSpPr>
        <p:spPr>
          <a:xfrm>
            <a:off x="5080000" y="3302000"/>
            <a:ext cx="1778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262626"/>
                </a:solidFill>
                <a:latin typeface="阿里巴巴普惠体 R"/>
                <a:ea typeface="阿里巴巴普惠体 R"/>
              </a:rPr>
              <a:t>局部节点：小模型</a:t>
            </a:r>
            <a:endParaRPr lang="en-US" sz="1200" noProof="1"/>
          </a:p>
        </p:txBody>
      </p:sp>
      <p:sp>
        <p:nvSpPr>
          <p:cNvPr id="37" name="p4-lg2"/>
          <p:cNvSpPr/>
          <p:nvPr/>
        </p:nvSpPr>
        <p:spPr>
          <a:xfrm>
            <a:off x="7112000" y="3327400"/>
            <a:ext cx="177800" cy="17780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38" name="p4-lgt2"/>
          <p:cNvSpPr txBox="1"/>
          <p:nvPr/>
        </p:nvSpPr>
        <p:spPr>
          <a:xfrm>
            <a:off x="7366000" y="3302000"/>
            <a:ext cx="1778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262626"/>
                </a:solidFill>
                <a:latin typeface="阿里巴巴普惠体 R"/>
                <a:ea typeface="阿里巴巴普惠体 R"/>
              </a:rPr>
              <a:t>工具节点</a:t>
            </a:r>
            <a:endParaRPr lang="en-US" sz="1200" noProof="1"/>
          </a:p>
        </p:txBody>
      </p:sp>
      <p:sp>
        <p:nvSpPr>
          <p:cNvPr id="39" name="p4-band"/>
          <p:cNvSpPr/>
          <p:nvPr/>
        </p:nvSpPr>
        <p:spPr>
          <a:xfrm>
            <a:off x="1625600" y="4064000"/>
            <a:ext cx="10185400" cy="812800"/>
          </a:xfrm>
          <a:prstGeom prst="roundRect">
            <a:avLst>
              <a:gd name="adj" fmla="val 18000"/>
            </a:avLst>
          </a:prstGeom>
          <a:solidFill>
            <a:srgbClr val="DCE9F7"/>
          </a:solidFill>
          <a:ln>
            <a:noFill/>
          </a:ln>
        </p:spPr>
      </p:sp>
      <p:sp>
        <p:nvSpPr>
          <p:cNvPr id="40" name="p4-con"/>
          <p:cNvSpPr txBox="1"/>
          <p:nvPr/>
        </p:nvSpPr>
        <p:spPr>
          <a:xfrm>
            <a:off x="1879600" y="4064000"/>
            <a:ext cx="96774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noProof="1">
                <a:solidFill>
                  <a:schemeClr val="accent3"/>
                </a:solidFill>
                <a:latin typeface="阿里巴巴普惠体 R"/>
                <a:ea typeface="阿里巴巴普惠体 R"/>
              </a:rPr>
              <a:t>同一个复杂问题，不同节点对模型能力的需求并不相同</a:t>
            </a:r>
            <a:endParaRPr lang="en-US" sz="2400" noProof="1"/>
          </a:p>
        </p:txBody>
      </p:sp>
      <p:sp>
        <p:nvSpPr>
          <p:cNvPr id="41" name="p4-con2"/>
          <p:cNvSpPr txBox="1"/>
          <p:nvPr/>
        </p:nvSpPr>
        <p:spPr>
          <a:xfrm>
            <a:off x="1879600" y="5029200"/>
            <a:ext cx="96774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600" noProof="1">
                <a:latin typeface="阿里巴巴普惠体 R"/>
                <a:ea typeface="阿里巴巴普惠体 R"/>
              </a:rPr>
              <a:t>优化空间不只来自“不同用户问题”，还来自“同一问题内部的不同子任务”</a:t>
            </a:r>
            <a:endParaRPr lang="en-US" sz="16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strip"/>
          <p:cNvSpPr/>
          <p:nvPr/>
        </p:nvSpPr>
        <p:spPr>
          <a:xfrm>
            <a:off x="0" y="-11430"/>
            <a:ext cx="12192000" cy="175260"/>
          </a:xfrm>
          <a:prstGeom prst="rect">
            <a:avLst/>
          </a:prstGeom>
          <a:solidFill>
            <a:srgbClr val="122E66"/>
          </a:solidFill>
          <a:ln>
            <a:noFill/>
          </a:ln>
        </p:spPr>
      </p:sp>
      <p:sp>
        <p:nvSpPr>
          <p:cNvPr id="3" name="nav-panel"/>
          <p:cNvSpPr/>
          <p:nvPr/>
        </p:nvSpPr>
        <p:spPr>
          <a:xfrm>
            <a:off x="0" y="163830"/>
            <a:ext cx="1164590" cy="66865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" name="nav-hl"/>
          <p:cNvSpPr/>
          <p:nvPr/>
        </p:nvSpPr>
        <p:spPr>
          <a:xfrm>
            <a:off x="-6350" y="1892300"/>
            <a:ext cx="1164590" cy="36449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5" name="nav-0"/>
          <p:cNvSpPr txBox="1"/>
          <p:nvPr/>
        </p:nvSpPr>
        <p:spPr>
          <a:xfrm>
            <a:off x="85090" y="1894840"/>
            <a:ext cx="981710" cy="3086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zh-CN" altLang="en-US" sz="1400" noProof="1">
                <a:solidFill>
                  <a:srgbClr val="262626"/>
                </a:solidFill>
                <a:latin typeface="阿里巴巴普惠体 R"/>
                <a:ea typeface="阿里巴巴普惠体 R"/>
              </a:rPr>
              <a:t>问题背景</a:t>
            </a:r>
            <a:endParaRPr lang="en-US" altLang="zh-CN" sz="1400" noProof="1"/>
          </a:p>
        </p:txBody>
      </p:sp>
      <p:sp>
        <p:nvSpPr>
          <p:cNvPr id="6" name="nav-1"/>
          <p:cNvSpPr txBox="1"/>
          <p:nvPr/>
        </p:nvSpPr>
        <p:spPr>
          <a:xfrm>
            <a:off x="85090" y="2550160"/>
            <a:ext cx="981710" cy="3086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zh-CN" altLang="en-US" sz="1400" noProof="1">
                <a:solidFill>
                  <a:srgbClr val="808080"/>
                </a:solidFill>
                <a:latin typeface="阿里巴巴普惠体 R"/>
              </a:rPr>
              <a:t>相关工作</a:t>
            </a:r>
            <a:endParaRPr lang="en-US" altLang="zh-CN" sz="1400" noProof="1"/>
          </a:p>
        </p:txBody>
      </p:sp>
      <p:sp>
        <p:nvSpPr>
          <p:cNvPr id="7" name="nav-2"/>
          <p:cNvSpPr txBox="1"/>
          <p:nvPr/>
        </p:nvSpPr>
        <p:spPr>
          <a:xfrm>
            <a:off x="85090" y="3205480"/>
            <a:ext cx="981710" cy="3086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zh-CN" altLang="en-US" sz="1400" noProof="1">
                <a:solidFill>
                  <a:srgbClr val="808080"/>
                </a:solidFill>
                <a:latin typeface="阿里巴巴普惠体 R"/>
                <a:ea typeface="阿里巴巴普惠体 R"/>
              </a:rPr>
              <a:t>具体工作</a:t>
            </a:r>
            <a:endParaRPr lang="en-US" altLang="zh-CN" sz="1400" noProof="1"/>
          </a:p>
        </p:txBody>
      </p:sp>
      <p:sp>
        <p:nvSpPr>
          <p:cNvPr id="8" name="nav-3"/>
          <p:cNvSpPr txBox="1"/>
          <p:nvPr/>
        </p:nvSpPr>
        <p:spPr>
          <a:xfrm>
            <a:off x="85090" y="3862070"/>
            <a:ext cx="981710" cy="3086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noProof="1">
                <a:solidFill>
                  <a:srgbClr val="808080"/>
                </a:solidFill>
                <a:latin typeface="阿里巴巴普惠体 R"/>
                <a:ea typeface="阿里巴巴普惠体 R"/>
              </a:rPr>
              <a:t>研究计划</a:t>
            </a:r>
            <a:endParaRPr lang="en-US" sz="1400" noProof="1"/>
          </a:p>
        </p:txBody>
      </p:sp>
      <p:sp>
        <p:nvSpPr>
          <p:cNvPr id="10" name="logo"/>
          <p:cNvSpPr/>
          <p:nvPr/>
        </p:nvSpPr>
        <p:spPr>
          <a:xfrm>
            <a:off x="49530" y="257810"/>
            <a:ext cx="1047750" cy="815340"/>
          </a:xfrm>
          <a:custGeom>
            <a:avLst/>
            <a:gdLst/>
            <a:ahLst/>
            <a:cxnLst/>
            <a:rect l="l" t="t" r="r" b="b"/>
            <a:pathLst>
              <a:path w="2036266" h="1623111">
                <a:moveTo>
                  <a:pt x="0" y="0"/>
                </a:moveTo>
                <a:lnTo>
                  <a:pt x="2036266" y="0"/>
                </a:lnTo>
                <a:lnTo>
                  <a:pt x="2036266" y="1623111"/>
                </a:lnTo>
                <a:lnTo>
                  <a:pt x="0" y="16231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</p:spPr>
      </p:sp>
      <p:sp>
        <p:nvSpPr>
          <p:cNvPr id="11" name="hd-line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eyJ2aWV3Qm94IjpbMSwyNy4yXSwicG9pbnRzIjoiMC41LDAgMC41LDI3LjIiLCJjdXJ2ZSI6InNoYXJwIn0</pptd:line>
              </p:ext>
            </p:extLst>
          </p:nvPr>
        </p:nvSpPr>
        <p:spPr>
          <a:xfrm>
            <a:off x="1625600" y="431800"/>
            <a:ext cx="12700" cy="345440"/>
          </a:xfrm>
          <a:custGeom>
            <a:avLst/>
            <a:gdLst/>
            <a:ahLst/>
            <a:cxnLst/>
            <a:rect l="l" t="t" r="r" b="b"/>
            <a:pathLst>
              <a:path w="1" h="27">
                <a:moveTo>
                  <a:pt x="1" y="0"/>
                </a:moveTo>
                <a:lnTo>
                  <a:pt x="1" y="27"/>
                </a:lnTo>
              </a:path>
            </a:pathLst>
          </a:custGeom>
          <a:noFill/>
          <a:ln w="92075">
            <a:solidFill>
              <a:srgbClr val="122E66"/>
            </a:solidFill>
          </a:ln>
        </p:spPr>
      </p:sp>
      <p:sp>
        <p:nvSpPr>
          <p:cNvPr id="13" name="hd-title"/>
          <p:cNvSpPr txBox="1"/>
          <p:nvPr/>
        </p:nvSpPr>
        <p:spPr>
          <a:xfrm>
            <a:off x="2301240" y="458470"/>
            <a:ext cx="9525000" cy="3086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noProof="1">
                <a:solidFill>
                  <a:srgbClr val="000000"/>
                </a:solidFill>
                <a:latin typeface="OPPOSans B"/>
                <a:ea typeface="OPPOSans B"/>
              </a:rPr>
              <a:t>系统价值不在于消灭拆解开销，而在于获得更大的端到端收益</a:t>
            </a:r>
            <a:endParaRPr lang="en-US" sz="2000" noProof="1"/>
          </a:p>
        </p:txBody>
      </p:sp>
      <p:sp>
        <p:nvSpPr>
          <p:cNvPr id="15" name="hd-div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eyJ2aWV3Qm94IjpbODEwLjYsMV0sInBvaW50cyI6IjAsMC41IDgxMC42LDAuNSIsImN1cnZlIjoic2hhcnAifQ</pptd:line>
              </p:ext>
            </p:extLst>
          </p:nvPr>
        </p:nvSpPr>
        <p:spPr>
          <a:xfrm>
            <a:off x="1625600" y="1121410"/>
            <a:ext cx="10294620" cy="12700"/>
          </a:xfrm>
          <a:custGeom>
            <a:avLst/>
            <a:gdLst/>
            <a:ahLst/>
            <a:cxnLst/>
            <a:rect l="l" t="t" r="r" b="b"/>
            <a:pathLst>
              <a:path w="811" h="1">
                <a:moveTo>
                  <a:pt x="0" y="1"/>
                </a:moveTo>
                <a:lnTo>
                  <a:pt x="811" y="1"/>
                </a:lnTo>
              </a:path>
            </a:pathLst>
          </a:custGeom>
          <a:noFill/>
          <a:ln w="12700">
            <a:solidFill>
              <a:srgbClr val="D9D9D9"/>
            </a:solidFill>
          </a:ln>
        </p:spPr>
      </p:sp>
      <p:sp>
        <p:nvSpPr>
          <p:cNvPr id="18" name="p5-axis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eyJ2aWV3Qm94IjpbNDAwLDFdLCJwb2ludHMiOiIwLDAuNSA0MDAsMC41IiwiY3VydmUiOiJzaGFycCJ9</pptd:line>
              </p:ext>
            </p:extLst>
          </p:nvPr>
        </p:nvSpPr>
        <p:spPr>
          <a:xfrm>
            <a:off x="1516811" y="5049520"/>
            <a:ext cx="5080000" cy="12700"/>
          </a:xfrm>
          <a:custGeom>
            <a:avLst/>
            <a:gdLst/>
            <a:ahLst/>
            <a:cxnLst/>
            <a:rect l="l" t="t" r="r" b="b"/>
            <a:pathLst>
              <a:path w="400" h="1">
                <a:moveTo>
                  <a:pt x="0" y="1"/>
                </a:moveTo>
                <a:lnTo>
                  <a:pt x="400" y="1"/>
                </a:lnTo>
              </a:path>
            </a:pathLst>
          </a:custGeom>
          <a:noFill/>
          <a:ln w="19050">
            <a:solidFill>
              <a:srgbClr val="808080"/>
            </a:solidFill>
          </a:ln>
        </p:spPr>
      </p:sp>
      <p:sp>
        <p:nvSpPr>
          <p:cNvPr id="19" name="p5-b1"/>
          <p:cNvSpPr/>
          <p:nvPr/>
        </p:nvSpPr>
        <p:spPr>
          <a:xfrm>
            <a:off x="2278811" y="4287520"/>
            <a:ext cx="1143000" cy="762000"/>
          </a:xfrm>
          <a:prstGeom prst="rect">
            <a:avLst/>
          </a:prstGeom>
          <a:solidFill>
            <a:srgbClr val="A9C7E8"/>
          </a:solidFill>
          <a:ln>
            <a:noFill/>
          </a:ln>
        </p:spPr>
      </p:sp>
      <p:sp>
        <p:nvSpPr>
          <p:cNvPr id="20" name="p5-b1t"/>
          <p:cNvSpPr txBox="1"/>
          <p:nvPr/>
        </p:nvSpPr>
        <p:spPr>
          <a:xfrm>
            <a:off x="1516811" y="3144520"/>
            <a:ext cx="2667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b="1" noProof="1">
                <a:solidFill>
                  <a:srgbClr val="262626"/>
                </a:solidFill>
                <a:latin typeface="阿里巴巴普惠体 R"/>
                <a:ea typeface="阿里巴巴普惠体 R"/>
              </a:rPr>
              <a:t>＋ 新增局部成本</a:t>
            </a:r>
            <a:endParaRPr lang="en-US" sz="1300" noProof="1"/>
          </a:p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595959"/>
                </a:solidFill>
                <a:latin typeface="阿里巴巴普惠体 R"/>
                <a:ea typeface="阿里巴巴普惠体 R"/>
              </a:rPr>
              <a:t>拆解 · 通信</a:t>
            </a:r>
            <a:endParaRPr lang="en-US" sz="1300" noProof="1"/>
          </a:p>
        </p:txBody>
      </p:sp>
      <p:sp>
        <p:nvSpPr>
          <p:cNvPr id="21" name="p5-b2"/>
          <p:cNvSpPr/>
          <p:nvPr/>
        </p:nvSpPr>
        <p:spPr>
          <a:xfrm>
            <a:off x="4691811" y="2509520"/>
            <a:ext cx="1143000" cy="2540000"/>
          </a:xfrm>
          <a:prstGeom prst="rect">
            <a:avLst/>
          </a:prstGeom>
          <a:solidFill>
            <a:srgbClr val="122E66"/>
          </a:solidFill>
          <a:ln>
            <a:noFill/>
          </a:ln>
        </p:spPr>
      </p:sp>
      <p:sp>
        <p:nvSpPr>
          <p:cNvPr id="22" name="p5-b2t"/>
          <p:cNvSpPr txBox="1"/>
          <p:nvPr/>
        </p:nvSpPr>
        <p:spPr>
          <a:xfrm>
            <a:off x="3929811" y="1595120"/>
            <a:ext cx="2667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b="1" noProof="1">
                <a:solidFill>
                  <a:srgbClr val="262626"/>
                </a:solidFill>
                <a:latin typeface="阿里巴巴普惠体 R"/>
                <a:ea typeface="阿里巴巴普惠体 R"/>
              </a:rPr>
              <a:t>－ 减少主要成本</a:t>
            </a:r>
            <a:endParaRPr lang="en-US" sz="1300" noProof="1"/>
          </a:p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595959"/>
                </a:solidFill>
                <a:latin typeface="阿里巴巴普惠体 R"/>
                <a:ea typeface="阿里巴巴普惠体 R"/>
              </a:rPr>
              <a:t>大模型推理 · 高端 GPU 占用</a:t>
            </a:r>
            <a:endParaRPr lang="en-US" sz="1300" noProof="1"/>
          </a:p>
        </p:txBody>
      </p:sp>
      <p:sp>
        <p:nvSpPr>
          <p:cNvPr id="23" name="p5-goal"/>
          <p:cNvSpPr txBox="1"/>
          <p:nvPr/>
        </p:nvSpPr>
        <p:spPr>
          <a:xfrm>
            <a:off x="1516811" y="5278120"/>
            <a:ext cx="5080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600" b="1" noProof="1">
                <a:solidFill>
                  <a:srgbClr val="122E66"/>
                </a:solidFill>
                <a:latin typeface="阿里巴巴普惠体 R"/>
                <a:ea typeface="阿里巴巴普惠体 R"/>
              </a:rPr>
              <a:t>最终目标：总成本显著降低，质量仅小幅变化</a:t>
            </a:r>
            <a:endParaRPr lang="en-US" sz="1600" noProof="1"/>
          </a:p>
        </p:txBody>
      </p:sp>
      <p:sp>
        <p:nvSpPr>
          <p:cNvPr id="24" name="p5-j1-c"/>
          <p:cNvSpPr/>
          <p:nvPr/>
        </p:nvSpPr>
        <p:spPr>
          <a:xfrm>
            <a:off x="6863943" y="2737884"/>
            <a:ext cx="431800" cy="431800"/>
          </a:xfrm>
          <a:prstGeom prst="ellipse">
            <a:avLst/>
          </a:prstGeom>
          <a:solidFill>
            <a:srgbClr val="122E66"/>
          </a:solidFill>
          <a:ln>
            <a:noFill/>
          </a:ln>
        </p:spPr>
      </p:sp>
      <p:sp>
        <p:nvSpPr>
          <p:cNvPr id="25" name="p5-j1-n"/>
          <p:cNvSpPr txBox="1"/>
          <p:nvPr/>
        </p:nvSpPr>
        <p:spPr>
          <a:xfrm>
            <a:off x="6863943" y="2775984"/>
            <a:ext cx="4318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600" b="1" noProof="1">
                <a:solidFill>
                  <a:srgbClr val="FFFFFF"/>
                </a:solidFill>
                <a:latin typeface="OPPOSans B"/>
                <a:ea typeface="OPPOSans B"/>
              </a:rPr>
              <a:t>1</a:t>
            </a:r>
            <a:endParaRPr lang="en-US" sz="1600" noProof="1"/>
          </a:p>
        </p:txBody>
      </p:sp>
      <p:sp>
        <p:nvSpPr>
          <p:cNvPr id="26" name="p5-j1-t"/>
          <p:cNvSpPr txBox="1"/>
          <p:nvPr/>
        </p:nvSpPr>
        <p:spPr>
          <a:xfrm>
            <a:off x="7448141" y="2627817"/>
            <a:ext cx="4658769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zh-CN" altLang="en-US" sz="2800" noProof="1">
                <a:solidFill>
                  <a:srgbClr val="262626"/>
                </a:solidFill>
                <a:latin typeface="阿里巴巴普惠体 R"/>
              </a:rPr>
              <a:t>拆解成为子任务需要</a:t>
            </a:r>
            <a:r>
              <a:rPr lang="zh-CN" altLang="en-US" sz="2800" b="1" noProof="1">
                <a:solidFill>
                  <a:srgbClr val="262626"/>
                </a:solidFill>
                <a:latin typeface="阿里巴巴普惠体 R"/>
              </a:rPr>
              <a:t>开销</a:t>
            </a:r>
            <a:endParaRPr lang="en-US" sz="2800" b="1" noProof="1"/>
          </a:p>
        </p:txBody>
      </p:sp>
      <p:sp>
        <p:nvSpPr>
          <p:cNvPr id="27" name="p5-j2-c"/>
          <p:cNvSpPr/>
          <p:nvPr/>
        </p:nvSpPr>
        <p:spPr>
          <a:xfrm>
            <a:off x="6863943" y="4007884"/>
            <a:ext cx="431800" cy="431800"/>
          </a:xfrm>
          <a:prstGeom prst="ellipse">
            <a:avLst/>
          </a:prstGeom>
          <a:solidFill>
            <a:srgbClr val="122E66"/>
          </a:solidFill>
          <a:ln>
            <a:noFill/>
          </a:ln>
        </p:spPr>
      </p:sp>
      <p:sp>
        <p:nvSpPr>
          <p:cNvPr id="28" name="p5-j2-n"/>
          <p:cNvSpPr txBox="1"/>
          <p:nvPr/>
        </p:nvSpPr>
        <p:spPr>
          <a:xfrm>
            <a:off x="6863943" y="4045984"/>
            <a:ext cx="4318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600" b="1" noProof="1">
                <a:solidFill>
                  <a:srgbClr val="FFFFFF"/>
                </a:solidFill>
                <a:latin typeface="OPPOSans B"/>
                <a:ea typeface="OPPOSans B"/>
              </a:rPr>
              <a:t>2</a:t>
            </a:r>
            <a:endParaRPr lang="en-US" sz="1600" noProof="1"/>
          </a:p>
        </p:txBody>
      </p:sp>
      <p:sp>
        <p:nvSpPr>
          <p:cNvPr id="32" name="p5-j3-t"/>
          <p:cNvSpPr txBox="1"/>
          <p:nvPr/>
        </p:nvSpPr>
        <p:spPr>
          <a:xfrm>
            <a:off x="7448142" y="3881120"/>
            <a:ext cx="4658769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zh-CN" altLang="en-US" sz="2800" noProof="1"/>
              <a:t>希望带来服务成本的大幅减少</a:t>
            </a:r>
            <a:endParaRPr lang="en-US" sz="28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strip"/>
          <p:cNvSpPr/>
          <p:nvPr/>
        </p:nvSpPr>
        <p:spPr>
          <a:xfrm>
            <a:off x="0" y="-11430"/>
            <a:ext cx="12192000" cy="175260"/>
          </a:xfrm>
          <a:prstGeom prst="rect">
            <a:avLst/>
          </a:prstGeom>
          <a:solidFill>
            <a:srgbClr val="122E66"/>
          </a:solidFill>
          <a:ln>
            <a:noFill/>
          </a:ln>
        </p:spPr>
      </p:sp>
      <p:sp>
        <p:nvSpPr>
          <p:cNvPr id="3" name="nav-panel"/>
          <p:cNvSpPr/>
          <p:nvPr/>
        </p:nvSpPr>
        <p:spPr>
          <a:xfrm>
            <a:off x="0" y="163830"/>
            <a:ext cx="1164590" cy="66865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" name="nav-0"/>
          <p:cNvSpPr txBox="1"/>
          <p:nvPr/>
        </p:nvSpPr>
        <p:spPr>
          <a:xfrm>
            <a:off x="85090" y="1894840"/>
            <a:ext cx="981710" cy="3086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noProof="1">
                <a:solidFill>
                  <a:srgbClr val="808080"/>
                </a:solidFill>
                <a:latin typeface="阿里巴巴普惠体 R"/>
                <a:ea typeface="阿里巴巴普惠体 R"/>
              </a:rPr>
              <a:t>研究动机</a:t>
            </a:r>
            <a:endParaRPr lang="en-US" sz="1400" noProof="1"/>
          </a:p>
        </p:txBody>
      </p:sp>
      <p:sp>
        <p:nvSpPr>
          <p:cNvPr id="5" name="nav-hl"/>
          <p:cNvSpPr/>
          <p:nvPr/>
        </p:nvSpPr>
        <p:spPr>
          <a:xfrm>
            <a:off x="-6350" y="2547620"/>
            <a:ext cx="1164590" cy="36449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6" name="nav-1"/>
          <p:cNvSpPr txBox="1"/>
          <p:nvPr/>
        </p:nvSpPr>
        <p:spPr>
          <a:xfrm>
            <a:off x="85090" y="2550160"/>
            <a:ext cx="981710" cy="3086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zh-CN" altLang="en-US" sz="1400" noProof="1">
                <a:solidFill>
                  <a:srgbClr val="262626"/>
                </a:solidFill>
                <a:latin typeface="阿里巴巴普惠体 R"/>
                <a:ea typeface="阿里巴巴普惠体 R"/>
              </a:rPr>
              <a:t>相关工作</a:t>
            </a:r>
            <a:endParaRPr lang="en-US" sz="1400" noProof="1"/>
          </a:p>
        </p:txBody>
      </p:sp>
      <p:sp>
        <p:nvSpPr>
          <p:cNvPr id="7" name="nav-2"/>
          <p:cNvSpPr txBox="1"/>
          <p:nvPr/>
        </p:nvSpPr>
        <p:spPr>
          <a:xfrm>
            <a:off x="85090" y="3205480"/>
            <a:ext cx="981710" cy="3086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zh-CN" altLang="en-US" sz="1400" noProof="1">
                <a:solidFill>
                  <a:srgbClr val="808080"/>
                </a:solidFill>
                <a:latin typeface="阿里巴巴普惠体 R"/>
                <a:ea typeface="阿里巴巴普惠体 R"/>
              </a:rPr>
              <a:t>具体工作</a:t>
            </a:r>
            <a:endParaRPr lang="en-US" altLang="zh-CN" sz="1400" noProof="1"/>
          </a:p>
        </p:txBody>
      </p:sp>
      <p:sp>
        <p:nvSpPr>
          <p:cNvPr id="8" name="nav-3"/>
          <p:cNvSpPr txBox="1"/>
          <p:nvPr/>
        </p:nvSpPr>
        <p:spPr>
          <a:xfrm>
            <a:off x="85090" y="3862070"/>
            <a:ext cx="981710" cy="3086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noProof="1">
                <a:solidFill>
                  <a:srgbClr val="808080"/>
                </a:solidFill>
                <a:latin typeface="阿里巴巴普惠体 R"/>
                <a:ea typeface="阿里巴巴普惠体 R"/>
              </a:rPr>
              <a:t>研究计划</a:t>
            </a:r>
            <a:endParaRPr lang="en-US" sz="1400" noProof="1"/>
          </a:p>
        </p:txBody>
      </p:sp>
      <p:sp>
        <p:nvSpPr>
          <p:cNvPr id="10" name="logo"/>
          <p:cNvSpPr/>
          <p:nvPr/>
        </p:nvSpPr>
        <p:spPr>
          <a:xfrm>
            <a:off x="49530" y="257810"/>
            <a:ext cx="1047750" cy="815340"/>
          </a:xfrm>
          <a:custGeom>
            <a:avLst/>
            <a:gdLst/>
            <a:ahLst/>
            <a:cxnLst/>
            <a:rect l="l" t="t" r="r" b="b"/>
            <a:pathLst>
              <a:path w="2036266" h="1623111">
                <a:moveTo>
                  <a:pt x="0" y="0"/>
                </a:moveTo>
                <a:lnTo>
                  <a:pt x="2036266" y="0"/>
                </a:lnTo>
                <a:lnTo>
                  <a:pt x="2036266" y="1623111"/>
                </a:lnTo>
                <a:lnTo>
                  <a:pt x="0" y="16231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16" name="p14-bg1">
            <a:extLst>
              <a:ext uri="{FF2B5EF4-FFF2-40B4-BE49-F238E27FC236}">
                <a16:creationId xmlns:a16="http://schemas.microsoft.com/office/drawing/2014/main" id="{482DC9CE-AC5F-451A-121A-A1FC19488397}"/>
              </a:ext>
            </a:extLst>
          </p:cNvPr>
          <p:cNvSpPr/>
          <p:nvPr/>
        </p:nvSpPr>
        <p:spPr>
          <a:xfrm>
            <a:off x="1993900" y="909488"/>
            <a:ext cx="4353560" cy="2698581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36" name="p14-hd1">
            <a:extLst>
              <a:ext uri="{FF2B5EF4-FFF2-40B4-BE49-F238E27FC236}">
                <a16:creationId xmlns:a16="http://schemas.microsoft.com/office/drawing/2014/main" id="{9753B5FF-EFB7-3CEA-B918-BD4E6C92A0EE}"/>
              </a:ext>
            </a:extLst>
          </p:cNvPr>
          <p:cNvSpPr/>
          <p:nvPr/>
        </p:nvSpPr>
        <p:spPr>
          <a:xfrm>
            <a:off x="1993900" y="909488"/>
            <a:ext cx="4353560" cy="433155"/>
          </a:xfrm>
          <a:prstGeom prst="rect">
            <a:avLst/>
          </a:prstGeom>
          <a:solidFill>
            <a:srgbClr val="122E66"/>
          </a:solidFill>
          <a:ln>
            <a:noFill/>
          </a:ln>
        </p:spPr>
      </p:sp>
      <p:sp>
        <p:nvSpPr>
          <p:cNvPr id="38" name="p14-ht1">
            <a:extLst>
              <a:ext uri="{FF2B5EF4-FFF2-40B4-BE49-F238E27FC236}">
                <a16:creationId xmlns:a16="http://schemas.microsoft.com/office/drawing/2014/main" id="{67CE8568-4C03-C03B-480D-19EEA7A2300A}"/>
              </a:ext>
            </a:extLst>
          </p:cNvPr>
          <p:cNvSpPr txBox="1"/>
          <p:nvPr/>
        </p:nvSpPr>
        <p:spPr>
          <a:xfrm>
            <a:off x="2006600" y="983063"/>
            <a:ext cx="4353560" cy="4331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2000" b="1" noProof="1">
                <a:solidFill>
                  <a:srgbClr val="FFFFFF"/>
                </a:solidFill>
                <a:latin typeface="OPPOSans B"/>
                <a:ea typeface="OPPOSans B"/>
              </a:rPr>
              <a:t>RouteGoT</a:t>
            </a:r>
            <a:r>
              <a:rPr lang="zh-CN" altLang="en-US" sz="2000" b="1" noProof="1">
                <a:solidFill>
                  <a:srgbClr val="FFFFFF"/>
                </a:solidFill>
                <a:latin typeface="OPPOSans B"/>
                <a:ea typeface="OPPOSans B"/>
              </a:rPr>
              <a:t>（</a:t>
            </a:r>
            <a:r>
              <a:rPr lang="en-US" altLang="zh-CN" sz="2000" b="1" noProof="1">
                <a:solidFill>
                  <a:srgbClr val="FFFFFF"/>
                </a:solidFill>
                <a:latin typeface="OPPOSans B"/>
                <a:ea typeface="OPPOSans B"/>
              </a:rPr>
              <a:t>arXiv</a:t>
            </a:r>
            <a:r>
              <a:rPr lang="zh-CN" altLang="en-US" sz="2000" b="1" noProof="1">
                <a:solidFill>
                  <a:srgbClr val="FFFFFF"/>
                </a:solidFill>
                <a:latin typeface="OPPOSans B"/>
                <a:ea typeface="OPPOSans B"/>
              </a:rPr>
              <a:t>）</a:t>
            </a:r>
            <a:endParaRPr lang="en-US" sz="2000" noProof="1"/>
          </a:p>
        </p:txBody>
      </p:sp>
      <p:sp>
        <p:nvSpPr>
          <p:cNvPr id="40" name="p14-bd1">
            <a:extLst>
              <a:ext uri="{FF2B5EF4-FFF2-40B4-BE49-F238E27FC236}">
                <a16:creationId xmlns:a16="http://schemas.microsoft.com/office/drawing/2014/main" id="{399AF75A-32C6-38E1-A8FC-D91074698C68}"/>
              </a:ext>
            </a:extLst>
          </p:cNvPr>
          <p:cNvSpPr txBox="1"/>
          <p:nvPr/>
        </p:nvSpPr>
        <p:spPr>
          <a:xfrm>
            <a:off x="2227996" y="1620688"/>
            <a:ext cx="3992464" cy="18260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  <a:spcBef>
                <a:spcPts val="10"/>
              </a:spcBef>
              <a:buChar char="•"/>
            </a:pPr>
            <a:r>
              <a:rPr lang="zh-CN" altLang="en-US" sz="2000" noProof="1"/>
              <a:t>在图式推理过程中对节点进行难度判断：较简单的叶子节点可由轻量模型处理，规划、复杂推理和综合节点更多地使用强模型。</a:t>
            </a:r>
            <a:endParaRPr lang="en-US" sz="2000" noProof="1"/>
          </a:p>
        </p:txBody>
      </p:sp>
      <p:sp>
        <p:nvSpPr>
          <p:cNvPr id="42" name="p14-bg1">
            <a:extLst>
              <a:ext uri="{FF2B5EF4-FFF2-40B4-BE49-F238E27FC236}">
                <a16:creationId xmlns:a16="http://schemas.microsoft.com/office/drawing/2014/main" id="{DA54519D-69B4-1AA0-2DAB-242E6CB3FDEF}"/>
              </a:ext>
            </a:extLst>
          </p:cNvPr>
          <p:cNvSpPr/>
          <p:nvPr/>
        </p:nvSpPr>
        <p:spPr>
          <a:xfrm>
            <a:off x="7256780" y="3788495"/>
            <a:ext cx="4353560" cy="2698581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44" name="p14-hd1">
            <a:extLst>
              <a:ext uri="{FF2B5EF4-FFF2-40B4-BE49-F238E27FC236}">
                <a16:creationId xmlns:a16="http://schemas.microsoft.com/office/drawing/2014/main" id="{6043AF94-548E-F25C-8D67-B1560EED61C9}"/>
              </a:ext>
            </a:extLst>
          </p:cNvPr>
          <p:cNvSpPr/>
          <p:nvPr/>
        </p:nvSpPr>
        <p:spPr>
          <a:xfrm>
            <a:off x="7256780" y="3788495"/>
            <a:ext cx="4353560" cy="433155"/>
          </a:xfrm>
          <a:prstGeom prst="rect">
            <a:avLst/>
          </a:prstGeom>
          <a:solidFill>
            <a:srgbClr val="122E66"/>
          </a:solidFill>
          <a:ln>
            <a:noFill/>
          </a:ln>
        </p:spPr>
      </p:sp>
      <p:sp>
        <p:nvSpPr>
          <p:cNvPr id="46" name="p14-ht1">
            <a:extLst>
              <a:ext uri="{FF2B5EF4-FFF2-40B4-BE49-F238E27FC236}">
                <a16:creationId xmlns:a16="http://schemas.microsoft.com/office/drawing/2014/main" id="{3C318AF1-B7D8-0395-4DDC-59A3DB892B5C}"/>
              </a:ext>
            </a:extLst>
          </p:cNvPr>
          <p:cNvSpPr txBox="1"/>
          <p:nvPr/>
        </p:nvSpPr>
        <p:spPr>
          <a:xfrm>
            <a:off x="7269480" y="3862070"/>
            <a:ext cx="4353560" cy="4331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2000" b="1" noProof="1">
                <a:solidFill>
                  <a:srgbClr val="FFFFFF"/>
                </a:solidFill>
                <a:latin typeface="OPPOSans B"/>
                <a:ea typeface="OPPOSans B"/>
              </a:rPr>
              <a:t>Murakkab</a:t>
            </a:r>
            <a:r>
              <a:rPr lang="zh-CN" altLang="en-US" sz="2000" b="1" noProof="1">
                <a:solidFill>
                  <a:srgbClr val="FFFFFF"/>
                </a:solidFill>
                <a:latin typeface="OPPOSans B"/>
                <a:ea typeface="OPPOSans B"/>
              </a:rPr>
              <a:t>（</a:t>
            </a:r>
            <a:r>
              <a:rPr lang="en-US" altLang="zh-CN" sz="2000" b="1" noProof="1">
                <a:solidFill>
                  <a:srgbClr val="FFFFFF"/>
                </a:solidFill>
                <a:latin typeface="OPPOSans B"/>
                <a:ea typeface="OPPOSans B"/>
              </a:rPr>
              <a:t>OSDI 2026</a:t>
            </a:r>
            <a:r>
              <a:rPr lang="zh-CN" altLang="en-US" sz="2000" b="1" noProof="1">
                <a:solidFill>
                  <a:srgbClr val="FFFFFF"/>
                </a:solidFill>
                <a:latin typeface="OPPOSans B"/>
                <a:ea typeface="OPPOSans B"/>
              </a:rPr>
              <a:t>）</a:t>
            </a:r>
            <a:endParaRPr lang="en-US" sz="2000" noProof="1"/>
          </a:p>
        </p:txBody>
      </p:sp>
      <p:sp>
        <p:nvSpPr>
          <p:cNvPr id="48" name="p14-bd1">
            <a:extLst>
              <a:ext uri="{FF2B5EF4-FFF2-40B4-BE49-F238E27FC236}">
                <a16:creationId xmlns:a16="http://schemas.microsoft.com/office/drawing/2014/main" id="{539AF932-3467-CA7F-26C6-DC0CE2CAF3A4}"/>
              </a:ext>
            </a:extLst>
          </p:cNvPr>
          <p:cNvSpPr txBox="1"/>
          <p:nvPr/>
        </p:nvSpPr>
        <p:spPr>
          <a:xfrm>
            <a:off x="7490876" y="4499695"/>
            <a:ext cx="3992464" cy="18260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  <a:spcBef>
                <a:spcPts val="10"/>
              </a:spcBef>
              <a:buChar char="•"/>
            </a:pPr>
            <a:r>
              <a:rPr lang="zh-CN" altLang="en-US" sz="2000" noProof="1"/>
              <a:t>面向智能体工作流，联合考虑任务配置、模型选择和系统资源，在质量、成本及服务目标之间进行权衡。</a:t>
            </a:r>
            <a:endParaRPr lang="en-US" sz="2000" noProof="1"/>
          </a:p>
        </p:txBody>
      </p:sp>
      <p:sp>
        <p:nvSpPr>
          <p:cNvPr id="50" name="p14-bg1">
            <a:extLst>
              <a:ext uri="{FF2B5EF4-FFF2-40B4-BE49-F238E27FC236}">
                <a16:creationId xmlns:a16="http://schemas.microsoft.com/office/drawing/2014/main" id="{EB05C7F4-6F0A-9714-A27A-20984291973E}"/>
              </a:ext>
            </a:extLst>
          </p:cNvPr>
          <p:cNvSpPr/>
          <p:nvPr/>
        </p:nvSpPr>
        <p:spPr>
          <a:xfrm>
            <a:off x="7269480" y="909488"/>
            <a:ext cx="4353560" cy="2698581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52" name="p14-hd1">
            <a:extLst>
              <a:ext uri="{FF2B5EF4-FFF2-40B4-BE49-F238E27FC236}">
                <a16:creationId xmlns:a16="http://schemas.microsoft.com/office/drawing/2014/main" id="{AF229772-51AF-4A18-EA83-08A687EBF4D0}"/>
              </a:ext>
            </a:extLst>
          </p:cNvPr>
          <p:cNvSpPr/>
          <p:nvPr/>
        </p:nvSpPr>
        <p:spPr>
          <a:xfrm>
            <a:off x="7269480" y="909488"/>
            <a:ext cx="4353560" cy="433155"/>
          </a:xfrm>
          <a:prstGeom prst="rect">
            <a:avLst/>
          </a:prstGeom>
          <a:solidFill>
            <a:srgbClr val="122E66"/>
          </a:solidFill>
          <a:ln>
            <a:noFill/>
          </a:ln>
        </p:spPr>
      </p:sp>
      <p:sp>
        <p:nvSpPr>
          <p:cNvPr id="54" name="p14-ht1">
            <a:extLst>
              <a:ext uri="{FF2B5EF4-FFF2-40B4-BE49-F238E27FC236}">
                <a16:creationId xmlns:a16="http://schemas.microsoft.com/office/drawing/2014/main" id="{6950654F-6575-108F-5B4B-243FF319B956}"/>
              </a:ext>
            </a:extLst>
          </p:cNvPr>
          <p:cNvSpPr txBox="1"/>
          <p:nvPr/>
        </p:nvSpPr>
        <p:spPr>
          <a:xfrm>
            <a:off x="7282180" y="983063"/>
            <a:ext cx="4353560" cy="4331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altLang="zh-CN" sz="2000" b="1" noProof="1">
                <a:solidFill>
                  <a:srgbClr val="FFFFFF"/>
                </a:solidFill>
                <a:latin typeface="OPPOSans B"/>
                <a:ea typeface="OPPOSans B"/>
              </a:rPr>
              <a:t>RouteLLM</a:t>
            </a:r>
            <a:r>
              <a:rPr lang="zh-CN" altLang="en-US" sz="2000" b="1" noProof="1">
                <a:solidFill>
                  <a:srgbClr val="FFFFFF"/>
                </a:solidFill>
                <a:latin typeface="OPPOSans B"/>
                <a:ea typeface="OPPOSans B"/>
              </a:rPr>
              <a:t>（</a:t>
            </a:r>
            <a:r>
              <a:rPr lang="en-US" altLang="zh-CN" sz="2000" b="1" noProof="1">
                <a:solidFill>
                  <a:srgbClr val="FFFFFF"/>
                </a:solidFill>
                <a:latin typeface="OPPOSans B"/>
                <a:ea typeface="OPPOSans B"/>
              </a:rPr>
              <a:t>ICLR 2025</a:t>
            </a:r>
            <a:r>
              <a:rPr lang="zh-CN" altLang="en-US" sz="2000" b="1" noProof="1">
                <a:solidFill>
                  <a:srgbClr val="FFFFFF"/>
                </a:solidFill>
                <a:latin typeface="OPPOSans B"/>
                <a:ea typeface="OPPOSans B"/>
              </a:rPr>
              <a:t>）</a:t>
            </a:r>
            <a:endParaRPr lang="en-US" sz="2000" noProof="1"/>
          </a:p>
        </p:txBody>
      </p:sp>
      <p:sp>
        <p:nvSpPr>
          <p:cNvPr id="56" name="p14-bd1">
            <a:extLst>
              <a:ext uri="{FF2B5EF4-FFF2-40B4-BE49-F238E27FC236}">
                <a16:creationId xmlns:a16="http://schemas.microsoft.com/office/drawing/2014/main" id="{A73A1171-109D-3605-2A06-38036B1509DB}"/>
              </a:ext>
            </a:extLst>
          </p:cNvPr>
          <p:cNvSpPr txBox="1"/>
          <p:nvPr/>
        </p:nvSpPr>
        <p:spPr>
          <a:xfrm>
            <a:off x="7503576" y="1620688"/>
            <a:ext cx="3992464" cy="18260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  <a:spcBef>
                <a:spcPts val="10"/>
              </a:spcBef>
              <a:buChar char="•"/>
            </a:pPr>
            <a:r>
              <a:rPr lang="zh-CN" altLang="en-US" sz="2000" noProof="1"/>
              <a:t>利用偏好数据学习查询级路由器，在强模型质量和弱模型成本之间取得平衡。</a:t>
            </a:r>
            <a:endParaRPr lang="en-US" sz="2000" noProof="1"/>
          </a:p>
        </p:txBody>
      </p:sp>
      <p:sp>
        <p:nvSpPr>
          <p:cNvPr id="66" name="p14-bg1">
            <a:extLst>
              <a:ext uri="{FF2B5EF4-FFF2-40B4-BE49-F238E27FC236}">
                <a16:creationId xmlns:a16="http://schemas.microsoft.com/office/drawing/2014/main" id="{24A14CA1-F576-4E07-D4EA-72C79CDD7BA6}"/>
              </a:ext>
            </a:extLst>
          </p:cNvPr>
          <p:cNvSpPr/>
          <p:nvPr/>
        </p:nvSpPr>
        <p:spPr>
          <a:xfrm>
            <a:off x="1981200" y="3788495"/>
            <a:ext cx="4353560" cy="2698581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68" name="p14-hd1">
            <a:extLst>
              <a:ext uri="{FF2B5EF4-FFF2-40B4-BE49-F238E27FC236}">
                <a16:creationId xmlns:a16="http://schemas.microsoft.com/office/drawing/2014/main" id="{00071788-B77B-5163-D78D-FAE38A6D824F}"/>
              </a:ext>
            </a:extLst>
          </p:cNvPr>
          <p:cNvSpPr/>
          <p:nvPr/>
        </p:nvSpPr>
        <p:spPr>
          <a:xfrm>
            <a:off x="1981200" y="3788495"/>
            <a:ext cx="4353560" cy="433155"/>
          </a:xfrm>
          <a:prstGeom prst="rect">
            <a:avLst/>
          </a:prstGeom>
          <a:solidFill>
            <a:srgbClr val="122E66"/>
          </a:solidFill>
          <a:ln>
            <a:noFill/>
          </a:ln>
        </p:spPr>
      </p:sp>
      <p:sp>
        <p:nvSpPr>
          <p:cNvPr id="70" name="p14-ht1">
            <a:extLst>
              <a:ext uri="{FF2B5EF4-FFF2-40B4-BE49-F238E27FC236}">
                <a16:creationId xmlns:a16="http://schemas.microsoft.com/office/drawing/2014/main" id="{5A04D076-CF78-D7B4-4EEC-0627F0C57638}"/>
              </a:ext>
            </a:extLst>
          </p:cNvPr>
          <p:cNvSpPr txBox="1"/>
          <p:nvPr/>
        </p:nvSpPr>
        <p:spPr>
          <a:xfrm>
            <a:off x="1993900" y="3862070"/>
            <a:ext cx="4353560" cy="4331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2000" b="1" noProof="1">
                <a:solidFill>
                  <a:srgbClr val="FFFFFF"/>
                </a:solidFill>
                <a:latin typeface="OPPOSans B"/>
                <a:ea typeface="OPPOSans B"/>
              </a:rPr>
              <a:t>Agentix</a:t>
            </a:r>
            <a:r>
              <a:rPr lang="zh-CN" altLang="en-US" sz="2000" b="1" noProof="1">
                <a:solidFill>
                  <a:srgbClr val="FFFFFF"/>
                </a:solidFill>
                <a:latin typeface="OPPOSans B"/>
                <a:ea typeface="OPPOSans B"/>
              </a:rPr>
              <a:t>（</a:t>
            </a:r>
            <a:r>
              <a:rPr lang="en-US" altLang="zh-CN" sz="2000" b="1" noProof="1">
                <a:solidFill>
                  <a:srgbClr val="FFFFFF"/>
                </a:solidFill>
                <a:latin typeface="OPPOSans B"/>
                <a:ea typeface="OPPOSans B"/>
              </a:rPr>
              <a:t>NSDI 2026</a:t>
            </a:r>
            <a:r>
              <a:rPr lang="zh-CN" altLang="en-US" sz="2000" b="1" noProof="1">
                <a:solidFill>
                  <a:srgbClr val="FFFFFF"/>
                </a:solidFill>
                <a:latin typeface="OPPOSans B"/>
                <a:ea typeface="OPPOSans B"/>
              </a:rPr>
              <a:t>）</a:t>
            </a:r>
            <a:endParaRPr lang="en-US" sz="2000" noProof="1"/>
          </a:p>
        </p:txBody>
      </p:sp>
      <p:sp>
        <p:nvSpPr>
          <p:cNvPr id="72" name="p14-bd1">
            <a:extLst>
              <a:ext uri="{FF2B5EF4-FFF2-40B4-BE49-F238E27FC236}">
                <a16:creationId xmlns:a16="http://schemas.microsoft.com/office/drawing/2014/main" id="{BB657861-B320-5260-6147-6877C6B35AE8}"/>
              </a:ext>
            </a:extLst>
          </p:cNvPr>
          <p:cNvSpPr txBox="1"/>
          <p:nvPr/>
        </p:nvSpPr>
        <p:spPr>
          <a:xfrm>
            <a:off x="2215296" y="4499695"/>
            <a:ext cx="3992464" cy="18260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  <a:spcBef>
                <a:spcPts val="10"/>
              </a:spcBef>
              <a:buChar char="•"/>
            </a:pPr>
            <a:r>
              <a:rPr lang="zh-CN" altLang="en-US" sz="2000" noProof="1"/>
              <a:t>将智能体执行表示为动态</a:t>
            </a:r>
            <a:r>
              <a:rPr lang="en-US" altLang="zh-CN" sz="2000" noProof="1"/>
              <a:t>DAG</a:t>
            </a:r>
            <a:r>
              <a:rPr lang="zh-CN" altLang="en-US" sz="2000" noProof="1"/>
              <a:t>，并关注依赖关系、并行机会、服务负载和关键路径，以减少端到端等待时间。</a:t>
            </a:r>
            <a:endParaRPr lang="en-US" sz="20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strip"/>
          <p:cNvSpPr/>
          <p:nvPr/>
        </p:nvSpPr>
        <p:spPr>
          <a:xfrm>
            <a:off x="0" y="-11430"/>
            <a:ext cx="12192000" cy="175260"/>
          </a:xfrm>
          <a:prstGeom prst="rect">
            <a:avLst/>
          </a:prstGeom>
          <a:solidFill>
            <a:srgbClr val="122E66"/>
          </a:solidFill>
          <a:ln>
            <a:noFill/>
          </a:ln>
        </p:spPr>
      </p:sp>
      <p:sp>
        <p:nvSpPr>
          <p:cNvPr id="10" name="logo"/>
          <p:cNvSpPr/>
          <p:nvPr/>
        </p:nvSpPr>
        <p:spPr>
          <a:xfrm>
            <a:off x="49530" y="257810"/>
            <a:ext cx="1047750" cy="815340"/>
          </a:xfrm>
          <a:custGeom>
            <a:avLst/>
            <a:gdLst/>
            <a:ahLst/>
            <a:cxnLst/>
            <a:rect l="l" t="t" r="r" b="b"/>
            <a:pathLst>
              <a:path w="2036266" h="1623111">
                <a:moveTo>
                  <a:pt x="0" y="0"/>
                </a:moveTo>
                <a:lnTo>
                  <a:pt x="2036266" y="0"/>
                </a:lnTo>
                <a:lnTo>
                  <a:pt x="2036266" y="1623111"/>
                </a:lnTo>
                <a:lnTo>
                  <a:pt x="0" y="16231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11" name="hd-line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eyJ2aWV3Qm94IjpbMSwyNy4yXSwicG9pbnRzIjoiMC41LDAgMC41LDI3LjIiLCJjdXJ2ZSI6InNoYXJwIn0</pptd:line>
              </p:ext>
            </p:extLst>
          </p:nvPr>
        </p:nvSpPr>
        <p:spPr>
          <a:xfrm>
            <a:off x="1625600" y="431800"/>
            <a:ext cx="12700" cy="345440"/>
          </a:xfrm>
          <a:custGeom>
            <a:avLst/>
            <a:gdLst/>
            <a:ahLst/>
            <a:cxnLst/>
            <a:rect l="l" t="t" r="r" b="b"/>
            <a:pathLst>
              <a:path w="1" h="27">
                <a:moveTo>
                  <a:pt x="1" y="0"/>
                </a:moveTo>
                <a:lnTo>
                  <a:pt x="1" y="27"/>
                </a:lnTo>
              </a:path>
            </a:pathLst>
          </a:custGeom>
          <a:noFill/>
          <a:ln w="92075">
            <a:solidFill>
              <a:srgbClr val="122E66"/>
            </a:solidFill>
          </a:ln>
        </p:spPr>
      </p:sp>
      <p:sp>
        <p:nvSpPr>
          <p:cNvPr id="13" name="hd-title"/>
          <p:cNvSpPr txBox="1"/>
          <p:nvPr/>
        </p:nvSpPr>
        <p:spPr>
          <a:xfrm>
            <a:off x="2301240" y="458470"/>
            <a:ext cx="9525000" cy="3086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zh-CN" altLang="en-US" sz="2000" noProof="1"/>
              <a:t>任务拆解如何拆</a:t>
            </a:r>
            <a:endParaRPr lang="en-US" sz="2000" noProof="1"/>
          </a:p>
        </p:txBody>
      </p:sp>
      <p:sp>
        <p:nvSpPr>
          <p:cNvPr id="15" name="hd-div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eyJ2aWV3Qm94IjpbODEwLjYsMV0sInBvaW50cyI6IjAsMC41IDgxMC42LDAuNSIsImN1cnZlIjoic2hhcnAifQ</pptd:line>
              </p:ext>
            </p:extLst>
          </p:nvPr>
        </p:nvSpPr>
        <p:spPr>
          <a:xfrm>
            <a:off x="1625600" y="1121410"/>
            <a:ext cx="10294620" cy="12700"/>
          </a:xfrm>
          <a:custGeom>
            <a:avLst/>
            <a:gdLst/>
            <a:ahLst/>
            <a:cxnLst/>
            <a:rect l="l" t="t" r="r" b="b"/>
            <a:pathLst>
              <a:path w="811" h="1">
                <a:moveTo>
                  <a:pt x="0" y="1"/>
                </a:moveTo>
                <a:lnTo>
                  <a:pt x="811" y="1"/>
                </a:lnTo>
              </a:path>
            </a:pathLst>
          </a:custGeom>
          <a:noFill/>
          <a:ln w="12700">
            <a:solidFill>
              <a:srgbClr val="D9D9D9"/>
            </a:solidFill>
          </a:ln>
        </p:spPr>
      </p:sp>
      <p:sp>
        <p:nvSpPr>
          <p:cNvPr id="18" name="p8-bg0"/>
          <p:cNvSpPr/>
          <p:nvPr/>
        </p:nvSpPr>
        <p:spPr>
          <a:xfrm>
            <a:off x="2711450" y="1818640"/>
            <a:ext cx="2438400" cy="393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19" name="p8-hd0"/>
          <p:cNvSpPr/>
          <p:nvPr/>
        </p:nvSpPr>
        <p:spPr>
          <a:xfrm>
            <a:off x="2711450" y="1818640"/>
            <a:ext cx="2438400" cy="406400"/>
          </a:xfrm>
          <a:prstGeom prst="rect">
            <a:avLst/>
          </a:prstGeom>
          <a:solidFill>
            <a:srgbClr val="2673B7"/>
          </a:solidFill>
          <a:ln>
            <a:noFill/>
          </a:ln>
        </p:spPr>
      </p:sp>
      <p:sp>
        <p:nvSpPr>
          <p:cNvPr id="20" name="p8-ht0"/>
          <p:cNvSpPr txBox="1"/>
          <p:nvPr/>
        </p:nvSpPr>
        <p:spPr>
          <a:xfrm>
            <a:off x="2711450" y="1894840"/>
            <a:ext cx="2438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b="1" noProof="1">
                <a:solidFill>
                  <a:srgbClr val="FFFFFF"/>
                </a:solidFill>
                <a:latin typeface="OPPOSans B"/>
                <a:ea typeface="OPPOSans B"/>
              </a:rPr>
              <a:t>检索问答</a:t>
            </a:r>
            <a:endParaRPr lang="en-US" noProof="1"/>
          </a:p>
        </p:txBody>
      </p:sp>
      <p:sp>
        <p:nvSpPr>
          <p:cNvPr id="21" name="p8-s00"/>
          <p:cNvSpPr/>
          <p:nvPr/>
        </p:nvSpPr>
        <p:spPr>
          <a:xfrm>
            <a:off x="3041650" y="2377440"/>
            <a:ext cx="1778000" cy="330200"/>
          </a:xfrm>
          <a:prstGeom prst="roundRect">
            <a:avLst>
              <a:gd name="adj" fmla="val 30000"/>
            </a:avLst>
          </a:prstGeom>
          <a:solidFill>
            <a:srgbClr val="DCE9F7"/>
          </a:solidFill>
          <a:ln w="9525">
            <a:solidFill>
              <a:srgbClr val="2673B7"/>
            </a:solidFill>
          </a:ln>
        </p:spPr>
      </p:sp>
      <p:sp>
        <p:nvSpPr>
          <p:cNvPr id="22" name="p8-st00"/>
          <p:cNvSpPr txBox="1"/>
          <p:nvPr/>
        </p:nvSpPr>
        <p:spPr>
          <a:xfrm>
            <a:off x="3041650" y="2415540"/>
            <a:ext cx="177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600" noProof="1">
                <a:solidFill>
                  <a:srgbClr val="262626"/>
                </a:solidFill>
                <a:latin typeface="阿里巴巴普惠体 R"/>
                <a:ea typeface="阿里巴巴普惠体 R"/>
              </a:rPr>
              <a:t>查询改写</a:t>
            </a:r>
            <a:endParaRPr lang="en-US" sz="1600" noProof="1"/>
          </a:p>
        </p:txBody>
      </p:sp>
      <p:sp>
        <p:nvSpPr>
          <p:cNvPr id="23" name="p8-sa00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eyJ2aWV3Qm94IjpbMiw4XSwicG9pbnRzIjoiMSwwIDEsOCIsImN1cnZlIjoic2hhcnAifQ</pptd:line>
              </p:ext>
            </p:extLst>
          </p:nvPr>
        </p:nvSpPr>
        <p:spPr>
          <a:xfrm>
            <a:off x="3917950" y="2720340"/>
            <a:ext cx="25400" cy="101600"/>
          </a:xfrm>
          <a:custGeom>
            <a:avLst/>
            <a:gdLst/>
            <a:ahLst/>
            <a:cxnLst/>
            <a:rect l="l" t="t" r="r" b="b"/>
            <a:pathLst>
              <a:path w="2" h="8">
                <a:moveTo>
                  <a:pt x="1" y="0"/>
                </a:moveTo>
                <a:lnTo>
                  <a:pt x="1" y="8"/>
                </a:lnTo>
              </a:path>
            </a:pathLst>
          </a:custGeom>
          <a:noFill/>
          <a:ln w="15875">
            <a:solidFill>
              <a:srgbClr val="2673B7"/>
            </a:solidFill>
            <a:tailEnd type="arrow"/>
          </a:ln>
        </p:spPr>
      </p:sp>
      <p:sp>
        <p:nvSpPr>
          <p:cNvPr id="24" name="p8-s01"/>
          <p:cNvSpPr/>
          <p:nvPr/>
        </p:nvSpPr>
        <p:spPr>
          <a:xfrm>
            <a:off x="3041650" y="2860040"/>
            <a:ext cx="1778000" cy="330200"/>
          </a:xfrm>
          <a:prstGeom prst="roundRect">
            <a:avLst>
              <a:gd name="adj" fmla="val 30000"/>
            </a:avLst>
          </a:prstGeom>
          <a:solidFill>
            <a:srgbClr val="DCE9F7"/>
          </a:solidFill>
          <a:ln w="9525">
            <a:solidFill>
              <a:srgbClr val="2673B7"/>
            </a:solidFill>
          </a:ln>
        </p:spPr>
      </p:sp>
      <p:sp>
        <p:nvSpPr>
          <p:cNvPr id="25" name="p8-st01"/>
          <p:cNvSpPr txBox="1"/>
          <p:nvPr/>
        </p:nvSpPr>
        <p:spPr>
          <a:xfrm>
            <a:off x="3041650" y="2898140"/>
            <a:ext cx="177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600" noProof="1">
                <a:solidFill>
                  <a:srgbClr val="262626"/>
                </a:solidFill>
                <a:latin typeface="阿里巴巴普惠体 R"/>
                <a:ea typeface="阿里巴巴普惠体 R"/>
              </a:rPr>
              <a:t>资料检索</a:t>
            </a:r>
            <a:endParaRPr lang="en-US" sz="1600" noProof="1"/>
          </a:p>
        </p:txBody>
      </p:sp>
      <p:sp>
        <p:nvSpPr>
          <p:cNvPr id="26" name="p8-sa01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eyJ2aWV3Qm94IjpbMiw4XSwicG9pbnRzIjoiMSwwIDEsOCIsImN1cnZlIjoic2hhcnAifQ</pptd:line>
              </p:ext>
            </p:extLst>
          </p:nvPr>
        </p:nvSpPr>
        <p:spPr>
          <a:xfrm>
            <a:off x="3917950" y="3202940"/>
            <a:ext cx="25400" cy="101600"/>
          </a:xfrm>
          <a:custGeom>
            <a:avLst/>
            <a:gdLst/>
            <a:ahLst/>
            <a:cxnLst/>
            <a:rect l="l" t="t" r="r" b="b"/>
            <a:pathLst>
              <a:path w="2" h="8">
                <a:moveTo>
                  <a:pt x="1" y="0"/>
                </a:moveTo>
                <a:lnTo>
                  <a:pt x="1" y="8"/>
                </a:lnTo>
              </a:path>
            </a:pathLst>
          </a:custGeom>
          <a:noFill/>
          <a:ln w="15875">
            <a:solidFill>
              <a:srgbClr val="2673B7"/>
            </a:solidFill>
            <a:tailEnd type="arrow"/>
          </a:ln>
        </p:spPr>
      </p:sp>
      <p:sp>
        <p:nvSpPr>
          <p:cNvPr id="27" name="p8-s02"/>
          <p:cNvSpPr/>
          <p:nvPr/>
        </p:nvSpPr>
        <p:spPr>
          <a:xfrm>
            <a:off x="3041650" y="3342640"/>
            <a:ext cx="1778000" cy="330200"/>
          </a:xfrm>
          <a:prstGeom prst="roundRect">
            <a:avLst>
              <a:gd name="adj" fmla="val 30000"/>
            </a:avLst>
          </a:prstGeom>
          <a:solidFill>
            <a:srgbClr val="DCE9F7"/>
          </a:solidFill>
          <a:ln w="9525">
            <a:solidFill>
              <a:srgbClr val="2673B7"/>
            </a:solidFill>
          </a:ln>
        </p:spPr>
      </p:sp>
      <p:sp>
        <p:nvSpPr>
          <p:cNvPr id="28" name="p8-st02"/>
          <p:cNvSpPr txBox="1"/>
          <p:nvPr/>
        </p:nvSpPr>
        <p:spPr>
          <a:xfrm>
            <a:off x="3041650" y="3380740"/>
            <a:ext cx="177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600" noProof="1">
                <a:solidFill>
                  <a:srgbClr val="262626"/>
                </a:solidFill>
                <a:latin typeface="阿里巴巴普惠体 R"/>
                <a:ea typeface="阿里巴巴普惠体 R"/>
              </a:rPr>
              <a:t>筛选</a:t>
            </a:r>
            <a:endParaRPr lang="en-US" sz="1600" noProof="1"/>
          </a:p>
        </p:txBody>
      </p:sp>
      <p:sp>
        <p:nvSpPr>
          <p:cNvPr id="29" name="p8-sa02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eyJ2aWV3Qm94IjpbMiw4XSwicG9pbnRzIjoiMSwwIDEsOCIsImN1cnZlIjoic2hhcnAifQ</pptd:line>
              </p:ext>
            </p:extLst>
          </p:nvPr>
        </p:nvSpPr>
        <p:spPr>
          <a:xfrm>
            <a:off x="3917950" y="3685540"/>
            <a:ext cx="25400" cy="101600"/>
          </a:xfrm>
          <a:custGeom>
            <a:avLst/>
            <a:gdLst/>
            <a:ahLst/>
            <a:cxnLst/>
            <a:rect l="l" t="t" r="r" b="b"/>
            <a:pathLst>
              <a:path w="2" h="8">
                <a:moveTo>
                  <a:pt x="1" y="0"/>
                </a:moveTo>
                <a:lnTo>
                  <a:pt x="1" y="8"/>
                </a:lnTo>
              </a:path>
            </a:pathLst>
          </a:custGeom>
          <a:noFill/>
          <a:ln w="15875">
            <a:solidFill>
              <a:srgbClr val="2673B7"/>
            </a:solidFill>
            <a:tailEnd type="arrow"/>
          </a:ln>
        </p:spPr>
      </p:sp>
      <p:sp>
        <p:nvSpPr>
          <p:cNvPr id="30" name="p8-s03"/>
          <p:cNvSpPr/>
          <p:nvPr/>
        </p:nvSpPr>
        <p:spPr>
          <a:xfrm>
            <a:off x="3041650" y="3825240"/>
            <a:ext cx="1778000" cy="330200"/>
          </a:xfrm>
          <a:prstGeom prst="roundRect">
            <a:avLst>
              <a:gd name="adj" fmla="val 30000"/>
            </a:avLst>
          </a:prstGeom>
          <a:solidFill>
            <a:srgbClr val="DCE9F7"/>
          </a:solidFill>
          <a:ln w="9525">
            <a:solidFill>
              <a:srgbClr val="2673B7"/>
            </a:solidFill>
          </a:ln>
        </p:spPr>
      </p:sp>
      <p:sp>
        <p:nvSpPr>
          <p:cNvPr id="31" name="p8-st03"/>
          <p:cNvSpPr txBox="1"/>
          <p:nvPr/>
        </p:nvSpPr>
        <p:spPr>
          <a:xfrm>
            <a:off x="3041650" y="3863340"/>
            <a:ext cx="177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600" noProof="1">
                <a:solidFill>
                  <a:srgbClr val="262626"/>
                </a:solidFill>
                <a:latin typeface="阿里巴巴普惠体 R"/>
                <a:ea typeface="阿里巴巴普惠体 R"/>
              </a:rPr>
              <a:t>综合</a:t>
            </a:r>
            <a:endParaRPr lang="en-US" sz="1600" noProof="1"/>
          </a:p>
        </p:txBody>
      </p:sp>
      <p:sp>
        <p:nvSpPr>
          <p:cNvPr id="32" name="p8-sa03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eyJ2aWV3Qm94IjpbMiw4XSwicG9pbnRzIjoiMSwwIDEsOCIsImN1cnZlIjoic2hhcnAifQ</pptd:line>
              </p:ext>
            </p:extLst>
          </p:nvPr>
        </p:nvSpPr>
        <p:spPr>
          <a:xfrm>
            <a:off x="3917950" y="4168140"/>
            <a:ext cx="25400" cy="101600"/>
          </a:xfrm>
          <a:custGeom>
            <a:avLst/>
            <a:gdLst/>
            <a:ahLst/>
            <a:cxnLst/>
            <a:rect l="l" t="t" r="r" b="b"/>
            <a:pathLst>
              <a:path w="2" h="8">
                <a:moveTo>
                  <a:pt x="1" y="0"/>
                </a:moveTo>
                <a:lnTo>
                  <a:pt x="1" y="8"/>
                </a:lnTo>
              </a:path>
            </a:pathLst>
          </a:custGeom>
          <a:noFill/>
          <a:ln w="15875">
            <a:solidFill>
              <a:srgbClr val="2673B7"/>
            </a:solidFill>
            <a:tailEnd type="arrow"/>
          </a:ln>
        </p:spPr>
      </p:sp>
      <p:sp>
        <p:nvSpPr>
          <p:cNvPr id="33" name="p8-s04"/>
          <p:cNvSpPr/>
          <p:nvPr/>
        </p:nvSpPr>
        <p:spPr>
          <a:xfrm>
            <a:off x="3041650" y="4307840"/>
            <a:ext cx="1778000" cy="330200"/>
          </a:xfrm>
          <a:prstGeom prst="roundRect">
            <a:avLst>
              <a:gd name="adj" fmla="val 30000"/>
            </a:avLst>
          </a:prstGeom>
          <a:solidFill>
            <a:srgbClr val="DCE9F7"/>
          </a:solidFill>
          <a:ln w="9525">
            <a:solidFill>
              <a:srgbClr val="2673B7"/>
            </a:solidFill>
          </a:ln>
        </p:spPr>
      </p:sp>
      <p:sp>
        <p:nvSpPr>
          <p:cNvPr id="34" name="p8-st04"/>
          <p:cNvSpPr txBox="1"/>
          <p:nvPr/>
        </p:nvSpPr>
        <p:spPr>
          <a:xfrm>
            <a:off x="3041650" y="4345940"/>
            <a:ext cx="177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600" noProof="1">
                <a:solidFill>
                  <a:srgbClr val="262626"/>
                </a:solidFill>
                <a:latin typeface="阿里巴巴普惠体 R"/>
                <a:ea typeface="阿里巴巴普惠体 R"/>
              </a:rPr>
              <a:t>核验</a:t>
            </a:r>
            <a:endParaRPr lang="en-US" sz="1600" noProof="1"/>
          </a:p>
        </p:txBody>
      </p:sp>
      <p:sp>
        <p:nvSpPr>
          <p:cNvPr id="35" name="p8-tag0"/>
          <p:cNvSpPr txBox="1"/>
          <p:nvPr/>
        </p:nvSpPr>
        <p:spPr>
          <a:xfrm>
            <a:off x="2838450" y="5349240"/>
            <a:ext cx="2184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600" b="1" noProof="1">
                <a:solidFill>
                  <a:srgbClr val="122E66"/>
                </a:solidFill>
                <a:latin typeface="阿里巴巴普惠体 R"/>
                <a:ea typeface="阿里巴巴普惠体 R"/>
              </a:rPr>
              <a:t>串行链式结构</a:t>
            </a:r>
            <a:endParaRPr lang="en-US" sz="1600" noProof="1"/>
          </a:p>
        </p:txBody>
      </p:sp>
      <p:sp>
        <p:nvSpPr>
          <p:cNvPr id="36" name="p8-bg1"/>
          <p:cNvSpPr/>
          <p:nvPr/>
        </p:nvSpPr>
        <p:spPr>
          <a:xfrm>
            <a:off x="5334000" y="1818640"/>
            <a:ext cx="2438400" cy="393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37" name="p8-hd1"/>
          <p:cNvSpPr/>
          <p:nvPr/>
        </p:nvSpPr>
        <p:spPr>
          <a:xfrm>
            <a:off x="5334000" y="1818640"/>
            <a:ext cx="2438400" cy="406400"/>
          </a:xfrm>
          <a:prstGeom prst="rect">
            <a:avLst/>
          </a:prstGeom>
          <a:solidFill>
            <a:srgbClr val="2673B7"/>
          </a:solidFill>
          <a:ln>
            <a:noFill/>
          </a:ln>
        </p:spPr>
      </p:sp>
      <p:sp>
        <p:nvSpPr>
          <p:cNvPr id="38" name="p8-ht1"/>
          <p:cNvSpPr txBox="1"/>
          <p:nvPr/>
        </p:nvSpPr>
        <p:spPr>
          <a:xfrm>
            <a:off x="5334000" y="1894840"/>
            <a:ext cx="2438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b="1" noProof="1">
                <a:solidFill>
                  <a:srgbClr val="FFFFFF"/>
                </a:solidFill>
                <a:latin typeface="OPPOSans B"/>
                <a:ea typeface="OPPOSans B"/>
              </a:rPr>
              <a:t>数学推理</a:t>
            </a:r>
            <a:endParaRPr lang="en-US" noProof="1"/>
          </a:p>
        </p:txBody>
      </p:sp>
      <p:sp>
        <p:nvSpPr>
          <p:cNvPr id="39" name="p8-s10"/>
          <p:cNvSpPr/>
          <p:nvPr/>
        </p:nvSpPr>
        <p:spPr>
          <a:xfrm>
            <a:off x="5664200" y="2377440"/>
            <a:ext cx="1778000" cy="330200"/>
          </a:xfrm>
          <a:prstGeom prst="roundRect">
            <a:avLst>
              <a:gd name="adj" fmla="val 30000"/>
            </a:avLst>
          </a:prstGeom>
          <a:solidFill>
            <a:srgbClr val="DCE9F7"/>
          </a:solidFill>
          <a:ln w="9525">
            <a:solidFill>
              <a:srgbClr val="2673B7"/>
            </a:solidFill>
          </a:ln>
        </p:spPr>
      </p:sp>
      <p:sp>
        <p:nvSpPr>
          <p:cNvPr id="40" name="p8-st10"/>
          <p:cNvSpPr txBox="1"/>
          <p:nvPr/>
        </p:nvSpPr>
        <p:spPr>
          <a:xfrm>
            <a:off x="5664200" y="2415540"/>
            <a:ext cx="177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600" noProof="1">
                <a:solidFill>
                  <a:srgbClr val="262626"/>
                </a:solidFill>
                <a:latin typeface="阿里巴巴普惠体 R"/>
                <a:ea typeface="阿里巴巴普惠体 R"/>
              </a:rPr>
              <a:t>条件分析</a:t>
            </a:r>
            <a:endParaRPr lang="en-US" sz="1600" noProof="1"/>
          </a:p>
        </p:txBody>
      </p:sp>
      <p:sp>
        <p:nvSpPr>
          <p:cNvPr id="41" name="p8-sa10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eyJ2aWV3Qm94IjpbMiw4XSwicG9pbnRzIjoiMSwwIDEsOCIsImN1cnZlIjoic2hhcnAifQ</pptd:line>
              </p:ext>
            </p:extLst>
          </p:nvPr>
        </p:nvSpPr>
        <p:spPr>
          <a:xfrm>
            <a:off x="6540500" y="2720340"/>
            <a:ext cx="25400" cy="101600"/>
          </a:xfrm>
          <a:custGeom>
            <a:avLst/>
            <a:gdLst/>
            <a:ahLst/>
            <a:cxnLst/>
            <a:rect l="l" t="t" r="r" b="b"/>
            <a:pathLst>
              <a:path w="2" h="8">
                <a:moveTo>
                  <a:pt x="1" y="0"/>
                </a:moveTo>
                <a:lnTo>
                  <a:pt x="1" y="8"/>
                </a:lnTo>
              </a:path>
            </a:pathLst>
          </a:custGeom>
          <a:noFill/>
          <a:ln w="15875">
            <a:solidFill>
              <a:srgbClr val="2673B7"/>
            </a:solidFill>
            <a:tailEnd type="arrow"/>
          </a:ln>
        </p:spPr>
      </p:sp>
      <p:sp>
        <p:nvSpPr>
          <p:cNvPr id="42" name="p8-s11"/>
          <p:cNvSpPr/>
          <p:nvPr/>
        </p:nvSpPr>
        <p:spPr>
          <a:xfrm>
            <a:off x="5664200" y="2860040"/>
            <a:ext cx="1778000" cy="330200"/>
          </a:xfrm>
          <a:prstGeom prst="roundRect">
            <a:avLst>
              <a:gd name="adj" fmla="val 30000"/>
            </a:avLst>
          </a:prstGeom>
          <a:solidFill>
            <a:srgbClr val="DCE9F7"/>
          </a:solidFill>
          <a:ln w="9525">
            <a:solidFill>
              <a:srgbClr val="2673B7"/>
            </a:solidFill>
          </a:ln>
        </p:spPr>
      </p:sp>
      <p:sp>
        <p:nvSpPr>
          <p:cNvPr id="43" name="p8-st11"/>
          <p:cNvSpPr txBox="1"/>
          <p:nvPr/>
        </p:nvSpPr>
        <p:spPr>
          <a:xfrm>
            <a:off x="5664200" y="2898140"/>
            <a:ext cx="177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zh-CN" altLang="en-US" sz="1600" noProof="1">
                <a:solidFill>
                  <a:srgbClr val="262626"/>
                </a:solidFill>
                <a:latin typeface="阿里巴巴普惠体 R"/>
              </a:rPr>
              <a:t>建立数学关系</a:t>
            </a:r>
            <a:endParaRPr lang="en-US" sz="1600" noProof="1"/>
          </a:p>
        </p:txBody>
      </p:sp>
      <p:sp>
        <p:nvSpPr>
          <p:cNvPr id="44" name="p8-sa11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eyJ2aWV3Qm94IjpbMiw4XSwicG9pbnRzIjoiMSwwIDEsOCIsImN1cnZlIjoic2hhcnAifQ</pptd:line>
              </p:ext>
            </p:extLst>
          </p:nvPr>
        </p:nvSpPr>
        <p:spPr>
          <a:xfrm>
            <a:off x="6540500" y="3202940"/>
            <a:ext cx="25400" cy="101600"/>
          </a:xfrm>
          <a:custGeom>
            <a:avLst/>
            <a:gdLst/>
            <a:ahLst/>
            <a:cxnLst/>
            <a:rect l="l" t="t" r="r" b="b"/>
            <a:pathLst>
              <a:path w="2" h="8">
                <a:moveTo>
                  <a:pt x="1" y="0"/>
                </a:moveTo>
                <a:lnTo>
                  <a:pt x="1" y="8"/>
                </a:lnTo>
              </a:path>
            </a:pathLst>
          </a:custGeom>
          <a:noFill/>
          <a:ln w="15875">
            <a:solidFill>
              <a:srgbClr val="2673B7"/>
            </a:solidFill>
            <a:tailEnd type="arrow"/>
          </a:ln>
        </p:spPr>
      </p:sp>
      <p:sp>
        <p:nvSpPr>
          <p:cNvPr id="45" name="p8-s12"/>
          <p:cNvSpPr/>
          <p:nvPr/>
        </p:nvSpPr>
        <p:spPr>
          <a:xfrm>
            <a:off x="5664200" y="3342640"/>
            <a:ext cx="1778000" cy="330200"/>
          </a:xfrm>
          <a:prstGeom prst="roundRect">
            <a:avLst>
              <a:gd name="adj" fmla="val 30000"/>
            </a:avLst>
          </a:prstGeom>
          <a:solidFill>
            <a:srgbClr val="DCE9F7"/>
          </a:solidFill>
          <a:ln w="9525">
            <a:solidFill>
              <a:srgbClr val="2673B7"/>
            </a:solidFill>
          </a:ln>
        </p:spPr>
      </p:sp>
      <p:sp>
        <p:nvSpPr>
          <p:cNvPr id="46" name="p8-st12"/>
          <p:cNvSpPr txBox="1"/>
          <p:nvPr/>
        </p:nvSpPr>
        <p:spPr>
          <a:xfrm>
            <a:off x="5664200" y="3380740"/>
            <a:ext cx="177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zh-CN" altLang="en-US" sz="1600" noProof="1">
                <a:solidFill>
                  <a:srgbClr val="262626"/>
                </a:solidFill>
                <a:latin typeface="阿里巴巴普惠体 R"/>
              </a:rPr>
              <a:t>求解中间变量</a:t>
            </a:r>
            <a:endParaRPr lang="en-US" sz="1600" noProof="1"/>
          </a:p>
        </p:txBody>
      </p:sp>
      <p:sp>
        <p:nvSpPr>
          <p:cNvPr id="47" name="p8-sa12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eyJ2aWV3Qm94IjpbMiw4XSwicG9pbnRzIjoiMSwwIDEsOCIsImN1cnZlIjoic2hhcnAifQ</pptd:line>
              </p:ext>
            </p:extLst>
          </p:nvPr>
        </p:nvSpPr>
        <p:spPr>
          <a:xfrm>
            <a:off x="6540500" y="3685540"/>
            <a:ext cx="25400" cy="101600"/>
          </a:xfrm>
          <a:custGeom>
            <a:avLst/>
            <a:gdLst/>
            <a:ahLst/>
            <a:cxnLst/>
            <a:rect l="l" t="t" r="r" b="b"/>
            <a:pathLst>
              <a:path w="2" h="8">
                <a:moveTo>
                  <a:pt x="1" y="0"/>
                </a:moveTo>
                <a:lnTo>
                  <a:pt x="1" y="8"/>
                </a:lnTo>
              </a:path>
            </a:pathLst>
          </a:custGeom>
          <a:noFill/>
          <a:ln w="15875">
            <a:solidFill>
              <a:srgbClr val="2673B7"/>
            </a:solidFill>
            <a:tailEnd type="arrow"/>
          </a:ln>
        </p:spPr>
      </p:sp>
      <p:sp>
        <p:nvSpPr>
          <p:cNvPr id="48" name="p8-s13"/>
          <p:cNvSpPr/>
          <p:nvPr/>
        </p:nvSpPr>
        <p:spPr>
          <a:xfrm>
            <a:off x="5664200" y="3825240"/>
            <a:ext cx="1778000" cy="330200"/>
          </a:xfrm>
          <a:prstGeom prst="roundRect">
            <a:avLst>
              <a:gd name="adj" fmla="val 30000"/>
            </a:avLst>
          </a:prstGeom>
          <a:solidFill>
            <a:srgbClr val="DCE9F7"/>
          </a:solidFill>
          <a:ln w="9525">
            <a:solidFill>
              <a:srgbClr val="2673B7"/>
            </a:solidFill>
          </a:ln>
        </p:spPr>
      </p:sp>
      <p:sp>
        <p:nvSpPr>
          <p:cNvPr id="49" name="p8-st13"/>
          <p:cNvSpPr txBox="1"/>
          <p:nvPr/>
        </p:nvSpPr>
        <p:spPr>
          <a:xfrm>
            <a:off x="5664200" y="3863340"/>
            <a:ext cx="177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600" noProof="1">
                <a:solidFill>
                  <a:srgbClr val="262626"/>
                </a:solidFill>
                <a:latin typeface="阿里巴巴普惠体 R"/>
                <a:ea typeface="阿里巴巴普惠体 R"/>
              </a:rPr>
              <a:t>综合</a:t>
            </a:r>
            <a:endParaRPr lang="en-US" sz="1600" noProof="1"/>
          </a:p>
        </p:txBody>
      </p:sp>
      <p:sp>
        <p:nvSpPr>
          <p:cNvPr id="51" name="p8-bg2"/>
          <p:cNvSpPr/>
          <p:nvPr/>
        </p:nvSpPr>
        <p:spPr>
          <a:xfrm>
            <a:off x="7956550" y="1818640"/>
            <a:ext cx="2438400" cy="393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52" name="p8-hd2"/>
          <p:cNvSpPr/>
          <p:nvPr/>
        </p:nvSpPr>
        <p:spPr>
          <a:xfrm>
            <a:off x="7956550" y="1818640"/>
            <a:ext cx="2438400" cy="406400"/>
          </a:xfrm>
          <a:prstGeom prst="rect">
            <a:avLst/>
          </a:prstGeom>
          <a:solidFill>
            <a:srgbClr val="2673B7"/>
          </a:solidFill>
          <a:ln>
            <a:noFill/>
          </a:ln>
        </p:spPr>
      </p:sp>
      <p:sp>
        <p:nvSpPr>
          <p:cNvPr id="53" name="p8-ht2"/>
          <p:cNvSpPr txBox="1"/>
          <p:nvPr/>
        </p:nvSpPr>
        <p:spPr>
          <a:xfrm>
            <a:off x="7956550" y="1894840"/>
            <a:ext cx="2438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b="1" noProof="1">
                <a:solidFill>
                  <a:srgbClr val="FFFFFF"/>
                </a:solidFill>
                <a:latin typeface="OPPOSans B"/>
                <a:ea typeface="OPPOSans B"/>
              </a:rPr>
              <a:t>代码任务</a:t>
            </a:r>
            <a:endParaRPr lang="en-US" noProof="1"/>
          </a:p>
        </p:txBody>
      </p:sp>
      <p:sp>
        <p:nvSpPr>
          <p:cNvPr id="54" name="p8-s20"/>
          <p:cNvSpPr/>
          <p:nvPr/>
        </p:nvSpPr>
        <p:spPr>
          <a:xfrm>
            <a:off x="8286750" y="2377440"/>
            <a:ext cx="1778000" cy="330200"/>
          </a:xfrm>
          <a:prstGeom prst="roundRect">
            <a:avLst>
              <a:gd name="adj" fmla="val 30000"/>
            </a:avLst>
          </a:prstGeom>
          <a:solidFill>
            <a:srgbClr val="DCE9F7"/>
          </a:solidFill>
          <a:ln w="9525">
            <a:solidFill>
              <a:srgbClr val="2673B7"/>
            </a:solidFill>
          </a:ln>
        </p:spPr>
      </p:sp>
      <p:sp>
        <p:nvSpPr>
          <p:cNvPr id="55" name="p8-st20"/>
          <p:cNvSpPr txBox="1"/>
          <p:nvPr/>
        </p:nvSpPr>
        <p:spPr>
          <a:xfrm>
            <a:off x="8286750" y="2415540"/>
            <a:ext cx="177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600" noProof="1">
                <a:solidFill>
                  <a:srgbClr val="262626"/>
                </a:solidFill>
                <a:latin typeface="阿里巴巴普惠体 R"/>
                <a:ea typeface="阿里巴巴普惠体 R"/>
              </a:rPr>
              <a:t>需求分析</a:t>
            </a:r>
            <a:endParaRPr lang="en-US" sz="1600" noProof="1"/>
          </a:p>
        </p:txBody>
      </p:sp>
      <p:sp>
        <p:nvSpPr>
          <p:cNvPr id="56" name="p8-sa20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eyJ2aWV3Qm94IjpbMiw4XSwicG9pbnRzIjoiMSwwIDEsOCIsImN1cnZlIjoic2hhcnAifQ</pptd:line>
              </p:ext>
            </p:extLst>
          </p:nvPr>
        </p:nvSpPr>
        <p:spPr>
          <a:xfrm>
            <a:off x="9163050" y="2720340"/>
            <a:ext cx="25400" cy="101600"/>
          </a:xfrm>
          <a:custGeom>
            <a:avLst/>
            <a:gdLst/>
            <a:ahLst/>
            <a:cxnLst/>
            <a:rect l="l" t="t" r="r" b="b"/>
            <a:pathLst>
              <a:path w="2" h="8">
                <a:moveTo>
                  <a:pt x="1" y="0"/>
                </a:moveTo>
                <a:lnTo>
                  <a:pt x="1" y="8"/>
                </a:lnTo>
              </a:path>
            </a:pathLst>
          </a:custGeom>
          <a:noFill/>
          <a:ln w="15875">
            <a:solidFill>
              <a:srgbClr val="2673B7"/>
            </a:solidFill>
            <a:tailEnd type="arrow"/>
          </a:ln>
        </p:spPr>
      </p:sp>
      <p:sp>
        <p:nvSpPr>
          <p:cNvPr id="57" name="p8-s21"/>
          <p:cNvSpPr/>
          <p:nvPr/>
        </p:nvSpPr>
        <p:spPr>
          <a:xfrm>
            <a:off x="8286750" y="2860040"/>
            <a:ext cx="1778000" cy="330200"/>
          </a:xfrm>
          <a:prstGeom prst="roundRect">
            <a:avLst>
              <a:gd name="adj" fmla="val 30000"/>
            </a:avLst>
          </a:prstGeom>
          <a:solidFill>
            <a:srgbClr val="DCE9F7"/>
          </a:solidFill>
          <a:ln w="9525">
            <a:solidFill>
              <a:srgbClr val="2673B7"/>
            </a:solidFill>
          </a:ln>
        </p:spPr>
      </p:sp>
      <p:sp>
        <p:nvSpPr>
          <p:cNvPr id="58" name="p8-st21"/>
          <p:cNvSpPr txBox="1"/>
          <p:nvPr/>
        </p:nvSpPr>
        <p:spPr>
          <a:xfrm>
            <a:off x="8286750" y="2898140"/>
            <a:ext cx="177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600" noProof="1">
                <a:solidFill>
                  <a:srgbClr val="262626"/>
                </a:solidFill>
                <a:latin typeface="阿里巴巴普惠体 R"/>
                <a:ea typeface="阿里巴巴普惠体 R"/>
              </a:rPr>
              <a:t>模块设计</a:t>
            </a:r>
            <a:endParaRPr lang="en-US" sz="1600" noProof="1"/>
          </a:p>
        </p:txBody>
      </p:sp>
      <p:sp>
        <p:nvSpPr>
          <p:cNvPr id="59" name="p8-sa21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eyJ2aWV3Qm94IjpbMiw4XSwicG9pbnRzIjoiMSwwIDEsOCIsImN1cnZlIjoic2hhcnAifQ</pptd:line>
              </p:ext>
            </p:extLst>
          </p:nvPr>
        </p:nvSpPr>
        <p:spPr>
          <a:xfrm>
            <a:off x="9163050" y="3202940"/>
            <a:ext cx="25400" cy="101600"/>
          </a:xfrm>
          <a:custGeom>
            <a:avLst/>
            <a:gdLst/>
            <a:ahLst/>
            <a:cxnLst/>
            <a:rect l="l" t="t" r="r" b="b"/>
            <a:pathLst>
              <a:path w="2" h="8">
                <a:moveTo>
                  <a:pt x="1" y="0"/>
                </a:moveTo>
                <a:lnTo>
                  <a:pt x="1" y="8"/>
                </a:lnTo>
              </a:path>
            </a:pathLst>
          </a:custGeom>
          <a:noFill/>
          <a:ln w="15875">
            <a:solidFill>
              <a:srgbClr val="2673B7"/>
            </a:solidFill>
            <a:tailEnd type="arrow"/>
          </a:ln>
        </p:spPr>
      </p:sp>
      <p:sp>
        <p:nvSpPr>
          <p:cNvPr id="60" name="p8-s22"/>
          <p:cNvSpPr/>
          <p:nvPr/>
        </p:nvSpPr>
        <p:spPr>
          <a:xfrm>
            <a:off x="8286750" y="3342640"/>
            <a:ext cx="1778000" cy="330200"/>
          </a:xfrm>
          <a:prstGeom prst="roundRect">
            <a:avLst>
              <a:gd name="adj" fmla="val 30000"/>
            </a:avLst>
          </a:prstGeom>
          <a:solidFill>
            <a:srgbClr val="DCE9F7"/>
          </a:solidFill>
          <a:ln w="9525">
            <a:solidFill>
              <a:srgbClr val="2673B7"/>
            </a:solidFill>
          </a:ln>
        </p:spPr>
      </p:sp>
      <p:sp>
        <p:nvSpPr>
          <p:cNvPr id="61" name="p8-st22"/>
          <p:cNvSpPr txBox="1"/>
          <p:nvPr/>
        </p:nvSpPr>
        <p:spPr>
          <a:xfrm>
            <a:off x="8286750" y="3380740"/>
            <a:ext cx="177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600" noProof="1">
                <a:solidFill>
                  <a:srgbClr val="262626"/>
                </a:solidFill>
                <a:latin typeface="阿里巴巴普惠体 R"/>
                <a:ea typeface="阿里巴巴普惠体 R"/>
              </a:rPr>
              <a:t>实现</a:t>
            </a:r>
            <a:endParaRPr lang="en-US" sz="1600" noProof="1"/>
          </a:p>
        </p:txBody>
      </p:sp>
      <p:sp>
        <p:nvSpPr>
          <p:cNvPr id="62" name="p8-sa22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eyJ2aWV3Qm94IjpbMiw4XSwicG9pbnRzIjoiMSwwIDEsOCIsImN1cnZlIjoic2hhcnAifQ</pptd:line>
              </p:ext>
            </p:extLst>
          </p:nvPr>
        </p:nvSpPr>
        <p:spPr>
          <a:xfrm>
            <a:off x="9163050" y="3685540"/>
            <a:ext cx="25400" cy="101600"/>
          </a:xfrm>
          <a:custGeom>
            <a:avLst/>
            <a:gdLst/>
            <a:ahLst/>
            <a:cxnLst/>
            <a:rect l="l" t="t" r="r" b="b"/>
            <a:pathLst>
              <a:path w="2" h="8">
                <a:moveTo>
                  <a:pt x="1" y="0"/>
                </a:moveTo>
                <a:lnTo>
                  <a:pt x="1" y="8"/>
                </a:lnTo>
              </a:path>
            </a:pathLst>
          </a:custGeom>
          <a:noFill/>
          <a:ln w="15875">
            <a:solidFill>
              <a:srgbClr val="2673B7"/>
            </a:solidFill>
            <a:tailEnd type="arrow"/>
          </a:ln>
        </p:spPr>
      </p:sp>
      <p:sp>
        <p:nvSpPr>
          <p:cNvPr id="63" name="p8-s23"/>
          <p:cNvSpPr/>
          <p:nvPr/>
        </p:nvSpPr>
        <p:spPr>
          <a:xfrm>
            <a:off x="8286750" y="3825240"/>
            <a:ext cx="1778000" cy="330200"/>
          </a:xfrm>
          <a:prstGeom prst="roundRect">
            <a:avLst>
              <a:gd name="adj" fmla="val 30000"/>
            </a:avLst>
          </a:prstGeom>
          <a:solidFill>
            <a:srgbClr val="DCE9F7"/>
          </a:solidFill>
          <a:ln w="9525">
            <a:solidFill>
              <a:srgbClr val="2673B7"/>
            </a:solidFill>
          </a:ln>
        </p:spPr>
      </p:sp>
      <p:sp>
        <p:nvSpPr>
          <p:cNvPr id="64" name="p8-st23"/>
          <p:cNvSpPr txBox="1"/>
          <p:nvPr/>
        </p:nvSpPr>
        <p:spPr>
          <a:xfrm>
            <a:off x="8286750" y="3863340"/>
            <a:ext cx="177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600" noProof="1">
                <a:solidFill>
                  <a:srgbClr val="262626"/>
                </a:solidFill>
                <a:latin typeface="阿里巴巴普惠体 R"/>
                <a:ea typeface="阿里巴巴普惠体 R"/>
              </a:rPr>
              <a:t>测试</a:t>
            </a:r>
            <a:endParaRPr lang="en-US" sz="1600" noProof="1"/>
          </a:p>
        </p:txBody>
      </p:sp>
      <p:sp>
        <p:nvSpPr>
          <p:cNvPr id="65" name="p8-sa23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eyJ2aWV3Qm94IjpbMiw4XSwicG9pbnRzIjoiMSwwIDEsOCIsImN1cnZlIjoic2hhcnAifQ</pptd:line>
              </p:ext>
            </p:extLst>
          </p:nvPr>
        </p:nvSpPr>
        <p:spPr>
          <a:xfrm>
            <a:off x="9163050" y="4168140"/>
            <a:ext cx="25400" cy="101600"/>
          </a:xfrm>
          <a:custGeom>
            <a:avLst/>
            <a:gdLst/>
            <a:ahLst/>
            <a:cxnLst/>
            <a:rect l="l" t="t" r="r" b="b"/>
            <a:pathLst>
              <a:path w="2" h="8">
                <a:moveTo>
                  <a:pt x="1" y="0"/>
                </a:moveTo>
                <a:lnTo>
                  <a:pt x="1" y="8"/>
                </a:lnTo>
              </a:path>
            </a:pathLst>
          </a:custGeom>
          <a:noFill/>
          <a:ln w="15875">
            <a:solidFill>
              <a:srgbClr val="2673B7"/>
            </a:solidFill>
            <a:tailEnd type="arrow"/>
          </a:ln>
        </p:spPr>
      </p:sp>
      <p:sp>
        <p:nvSpPr>
          <p:cNvPr id="66" name="p8-s24"/>
          <p:cNvSpPr/>
          <p:nvPr/>
        </p:nvSpPr>
        <p:spPr>
          <a:xfrm>
            <a:off x="8286750" y="4307840"/>
            <a:ext cx="1778000" cy="330200"/>
          </a:xfrm>
          <a:prstGeom prst="roundRect">
            <a:avLst>
              <a:gd name="adj" fmla="val 30000"/>
            </a:avLst>
          </a:prstGeom>
          <a:solidFill>
            <a:srgbClr val="DCE9F7"/>
          </a:solidFill>
          <a:ln w="9525">
            <a:solidFill>
              <a:srgbClr val="2673B7"/>
            </a:solidFill>
          </a:ln>
        </p:spPr>
      </p:sp>
      <p:sp>
        <p:nvSpPr>
          <p:cNvPr id="67" name="p8-st24"/>
          <p:cNvSpPr txBox="1"/>
          <p:nvPr/>
        </p:nvSpPr>
        <p:spPr>
          <a:xfrm>
            <a:off x="8286750" y="4345940"/>
            <a:ext cx="177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600" noProof="1">
                <a:solidFill>
                  <a:srgbClr val="262626"/>
                </a:solidFill>
                <a:latin typeface="阿里巴巴普惠体 R"/>
                <a:ea typeface="阿里巴巴普惠体 R"/>
              </a:rPr>
              <a:t>调试</a:t>
            </a:r>
            <a:endParaRPr lang="en-US" sz="1600" noProof="1"/>
          </a:p>
        </p:txBody>
      </p:sp>
      <p:sp>
        <p:nvSpPr>
          <p:cNvPr id="68" name="p8-tag2"/>
          <p:cNvSpPr txBox="1"/>
          <p:nvPr/>
        </p:nvSpPr>
        <p:spPr>
          <a:xfrm>
            <a:off x="8083550" y="5349240"/>
            <a:ext cx="2184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600" b="1" noProof="1">
                <a:solidFill>
                  <a:srgbClr val="122E66"/>
                </a:solidFill>
                <a:latin typeface="阿里巴巴普惠体 R"/>
                <a:ea typeface="阿里巴巴普惠体 R"/>
              </a:rPr>
              <a:t>分支与迭代</a:t>
            </a:r>
            <a:endParaRPr lang="en-US" sz="1600" noProof="1"/>
          </a:p>
        </p:txBody>
      </p:sp>
      <p:sp>
        <p:nvSpPr>
          <p:cNvPr id="86" name="nav-0">
            <a:extLst>
              <a:ext uri="{FF2B5EF4-FFF2-40B4-BE49-F238E27FC236}">
                <a16:creationId xmlns:a16="http://schemas.microsoft.com/office/drawing/2014/main" id="{791DC001-EFE8-80CB-60F5-667A442010E1}"/>
              </a:ext>
            </a:extLst>
          </p:cNvPr>
          <p:cNvSpPr txBox="1"/>
          <p:nvPr/>
        </p:nvSpPr>
        <p:spPr>
          <a:xfrm>
            <a:off x="85090" y="1894840"/>
            <a:ext cx="981710" cy="3086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noProof="1">
                <a:solidFill>
                  <a:srgbClr val="808080"/>
                </a:solidFill>
                <a:latin typeface="阿里巴巴普惠体 R"/>
                <a:ea typeface="阿里巴巴普惠体 R"/>
              </a:rPr>
              <a:t>研究动机</a:t>
            </a:r>
            <a:endParaRPr lang="en-US" sz="1400" noProof="1"/>
          </a:p>
        </p:txBody>
      </p:sp>
      <p:sp>
        <p:nvSpPr>
          <p:cNvPr id="88" name="nav-1">
            <a:extLst>
              <a:ext uri="{FF2B5EF4-FFF2-40B4-BE49-F238E27FC236}">
                <a16:creationId xmlns:a16="http://schemas.microsoft.com/office/drawing/2014/main" id="{AE8CE95C-E67C-8E8C-CF7F-87B490F0AB97}"/>
              </a:ext>
            </a:extLst>
          </p:cNvPr>
          <p:cNvSpPr txBox="1"/>
          <p:nvPr/>
        </p:nvSpPr>
        <p:spPr>
          <a:xfrm>
            <a:off x="85090" y="2550160"/>
            <a:ext cx="981710" cy="3086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zh-CN" altLang="en-US" sz="1400" noProof="1">
                <a:solidFill>
                  <a:srgbClr val="808080"/>
                </a:solidFill>
                <a:latin typeface="阿里巴巴普惠体 R"/>
              </a:rPr>
              <a:t>相关工作</a:t>
            </a:r>
            <a:endParaRPr lang="en-US" altLang="zh-CN" sz="1400" noProof="1"/>
          </a:p>
        </p:txBody>
      </p:sp>
      <p:sp>
        <p:nvSpPr>
          <p:cNvPr id="90" name="nav-hl">
            <a:extLst>
              <a:ext uri="{FF2B5EF4-FFF2-40B4-BE49-F238E27FC236}">
                <a16:creationId xmlns:a16="http://schemas.microsoft.com/office/drawing/2014/main" id="{73B4093E-E14F-2406-47BD-81F7A8FAFE9E}"/>
              </a:ext>
            </a:extLst>
          </p:cNvPr>
          <p:cNvSpPr/>
          <p:nvPr/>
        </p:nvSpPr>
        <p:spPr>
          <a:xfrm>
            <a:off x="-6350" y="3202940"/>
            <a:ext cx="1164590" cy="36449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92" name="nav-2">
            <a:extLst>
              <a:ext uri="{FF2B5EF4-FFF2-40B4-BE49-F238E27FC236}">
                <a16:creationId xmlns:a16="http://schemas.microsoft.com/office/drawing/2014/main" id="{16FB1008-DA0F-A3F2-FCB3-096D495F68B5}"/>
              </a:ext>
            </a:extLst>
          </p:cNvPr>
          <p:cNvSpPr txBox="1"/>
          <p:nvPr/>
        </p:nvSpPr>
        <p:spPr>
          <a:xfrm>
            <a:off x="85090" y="3205480"/>
            <a:ext cx="981710" cy="3086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zh-CN" altLang="en-US" sz="1400" noProof="1">
                <a:latin typeface="阿里巴巴普惠体 R"/>
                <a:ea typeface="阿里巴巴普惠体 R"/>
              </a:rPr>
              <a:t>具体工作</a:t>
            </a:r>
            <a:endParaRPr lang="en-US" altLang="zh-CN" sz="1400" noProof="1"/>
          </a:p>
        </p:txBody>
      </p:sp>
      <p:sp>
        <p:nvSpPr>
          <p:cNvPr id="94" name="nav-3">
            <a:extLst>
              <a:ext uri="{FF2B5EF4-FFF2-40B4-BE49-F238E27FC236}">
                <a16:creationId xmlns:a16="http://schemas.microsoft.com/office/drawing/2014/main" id="{97F82780-F007-4751-6BC4-3213DD39803E}"/>
              </a:ext>
            </a:extLst>
          </p:cNvPr>
          <p:cNvSpPr txBox="1"/>
          <p:nvPr/>
        </p:nvSpPr>
        <p:spPr>
          <a:xfrm>
            <a:off x="85090" y="3862070"/>
            <a:ext cx="981710" cy="3086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noProof="1">
                <a:solidFill>
                  <a:srgbClr val="808080"/>
                </a:solidFill>
                <a:latin typeface="阿里巴巴普惠体 R"/>
                <a:ea typeface="阿里巴巴普惠体 R"/>
              </a:rPr>
              <a:t>研究计划</a:t>
            </a:r>
            <a:endParaRPr lang="en-US" sz="1400" noProof="1"/>
          </a:p>
        </p:txBody>
      </p:sp>
      <p:sp>
        <p:nvSpPr>
          <p:cNvPr id="98" name="p8-tag0">
            <a:extLst>
              <a:ext uri="{FF2B5EF4-FFF2-40B4-BE49-F238E27FC236}">
                <a16:creationId xmlns:a16="http://schemas.microsoft.com/office/drawing/2014/main" id="{BC4EA606-5DE3-0D76-414F-28F32C72CC43}"/>
              </a:ext>
            </a:extLst>
          </p:cNvPr>
          <p:cNvSpPr txBox="1"/>
          <p:nvPr/>
        </p:nvSpPr>
        <p:spPr>
          <a:xfrm>
            <a:off x="5334000" y="5349240"/>
            <a:ext cx="2184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600" b="1" noProof="1">
                <a:solidFill>
                  <a:srgbClr val="122E66"/>
                </a:solidFill>
                <a:latin typeface="阿里巴巴普惠体 R"/>
                <a:ea typeface="阿里巴巴普惠体 R"/>
              </a:rPr>
              <a:t>串行链式结构</a:t>
            </a:r>
            <a:endParaRPr lang="en-US" sz="16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BEB90-4BDB-690D-F596-5BBABACB6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strip">
            <a:extLst>
              <a:ext uri="{FF2B5EF4-FFF2-40B4-BE49-F238E27FC236}">
                <a16:creationId xmlns:a16="http://schemas.microsoft.com/office/drawing/2014/main" id="{3A7AB191-1811-070E-8964-7C35A9C1B348}"/>
              </a:ext>
            </a:extLst>
          </p:cNvPr>
          <p:cNvSpPr/>
          <p:nvPr/>
        </p:nvSpPr>
        <p:spPr>
          <a:xfrm>
            <a:off x="0" y="-11430"/>
            <a:ext cx="12192000" cy="175260"/>
          </a:xfrm>
          <a:prstGeom prst="rect">
            <a:avLst/>
          </a:prstGeom>
          <a:solidFill>
            <a:srgbClr val="122E66"/>
          </a:solidFill>
          <a:ln>
            <a:noFill/>
          </a:ln>
        </p:spPr>
      </p:sp>
      <p:sp>
        <p:nvSpPr>
          <p:cNvPr id="10" name="logo">
            <a:extLst>
              <a:ext uri="{FF2B5EF4-FFF2-40B4-BE49-F238E27FC236}">
                <a16:creationId xmlns:a16="http://schemas.microsoft.com/office/drawing/2014/main" id="{76FD0792-2BD2-08DE-9DC8-819B7BB42A93}"/>
              </a:ext>
            </a:extLst>
          </p:cNvPr>
          <p:cNvSpPr/>
          <p:nvPr/>
        </p:nvSpPr>
        <p:spPr>
          <a:xfrm>
            <a:off x="49530" y="257810"/>
            <a:ext cx="1047750" cy="815340"/>
          </a:xfrm>
          <a:custGeom>
            <a:avLst/>
            <a:gdLst/>
            <a:ahLst/>
            <a:cxnLst/>
            <a:rect l="l" t="t" r="r" b="b"/>
            <a:pathLst>
              <a:path w="2036266" h="1623111">
                <a:moveTo>
                  <a:pt x="0" y="0"/>
                </a:moveTo>
                <a:lnTo>
                  <a:pt x="2036266" y="0"/>
                </a:lnTo>
                <a:lnTo>
                  <a:pt x="2036266" y="1623111"/>
                </a:lnTo>
                <a:lnTo>
                  <a:pt x="0" y="16231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11" name="hd-line">
            <a:extLst>
              <a:ext uri="{FF2B5EF4-FFF2-40B4-BE49-F238E27FC236}">
                <a16:creationId xmlns:a16="http://schemas.microsoft.com/office/drawing/2014/main" id="{D461511C-DF34-F3BB-3FD4-C45531987424}"/>
              </a:ext>
            </a:extLst>
          </p:cNvPr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eyJ2aWV3Qm94IjpbMSwyNy4yXSwicG9pbnRzIjoiMC41LDAgMC41LDI3LjIiLCJjdXJ2ZSI6InNoYXJwIn0</pptd:line>
              </p:ext>
            </p:extLst>
          </p:nvPr>
        </p:nvSpPr>
        <p:spPr>
          <a:xfrm>
            <a:off x="1625600" y="431800"/>
            <a:ext cx="12700" cy="345440"/>
          </a:xfrm>
          <a:custGeom>
            <a:avLst/>
            <a:gdLst/>
            <a:ahLst/>
            <a:cxnLst/>
            <a:rect l="l" t="t" r="r" b="b"/>
            <a:pathLst>
              <a:path w="1" h="27">
                <a:moveTo>
                  <a:pt x="1" y="0"/>
                </a:moveTo>
                <a:lnTo>
                  <a:pt x="1" y="27"/>
                </a:lnTo>
              </a:path>
            </a:pathLst>
          </a:custGeom>
          <a:noFill/>
          <a:ln w="92075">
            <a:solidFill>
              <a:srgbClr val="122E66"/>
            </a:solidFill>
          </a:ln>
        </p:spPr>
      </p:sp>
      <p:sp>
        <p:nvSpPr>
          <p:cNvPr id="13" name="hd-title">
            <a:extLst>
              <a:ext uri="{FF2B5EF4-FFF2-40B4-BE49-F238E27FC236}">
                <a16:creationId xmlns:a16="http://schemas.microsoft.com/office/drawing/2014/main" id="{BD3C1D91-97CD-254A-BB6B-24039F375F17}"/>
              </a:ext>
            </a:extLst>
          </p:cNvPr>
          <p:cNvSpPr txBox="1"/>
          <p:nvPr/>
        </p:nvSpPr>
        <p:spPr>
          <a:xfrm>
            <a:off x="2301240" y="458470"/>
            <a:ext cx="9525000" cy="3086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zh-CN" altLang="en-US" sz="2000" noProof="1"/>
              <a:t>任务拆解</a:t>
            </a:r>
            <a:endParaRPr lang="en-US" sz="2000" noProof="1"/>
          </a:p>
        </p:txBody>
      </p:sp>
      <p:sp>
        <p:nvSpPr>
          <p:cNvPr id="15" name="hd-div">
            <a:extLst>
              <a:ext uri="{FF2B5EF4-FFF2-40B4-BE49-F238E27FC236}">
                <a16:creationId xmlns:a16="http://schemas.microsoft.com/office/drawing/2014/main" id="{97D93399-9943-C866-94B1-4FC1BBD459DC}"/>
              </a:ext>
            </a:extLst>
          </p:cNvPr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eyJ2aWV3Qm94IjpbODEwLjYsMV0sInBvaW50cyI6IjAsMC41IDgxMC42LDAuNSIsImN1cnZlIjoic2hhcnAifQ</pptd:line>
              </p:ext>
            </p:extLst>
          </p:nvPr>
        </p:nvSpPr>
        <p:spPr>
          <a:xfrm>
            <a:off x="1625600" y="1121410"/>
            <a:ext cx="10294620" cy="12700"/>
          </a:xfrm>
          <a:custGeom>
            <a:avLst/>
            <a:gdLst/>
            <a:ahLst/>
            <a:cxnLst/>
            <a:rect l="l" t="t" r="r" b="b"/>
            <a:pathLst>
              <a:path w="811" h="1">
                <a:moveTo>
                  <a:pt x="0" y="1"/>
                </a:moveTo>
                <a:lnTo>
                  <a:pt x="811" y="1"/>
                </a:lnTo>
              </a:path>
            </a:pathLst>
          </a:custGeom>
          <a:noFill/>
          <a:ln w="12700">
            <a:solidFill>
              <a:srgbClr val="D9D9D9"/>
            </a:solidFill>
          </a:ln>
        </p:spPr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ABD8675-1E2C-55A9-C4C9-2A5599DC7A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" y="1565224"/>
            <a:ext cx="7188805" cy="398188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AC9CD61-5CB8-651E-0D9C-338E1BDDDA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1225" y="2708274"/>
            <a:ext cx="4951245" cy="192722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7DC5A9BA-C4F0-E3F1-ECDF-62D70B40E277}"/>
              </a:ext>
            </a:extLst>
          </p:cNvPr>
          <p:cNvSpPr txBox="1"/>
          <p:nvPr/>
        </p:nvSpPr>
        <p:spPr>
          <a:xfrm>
            <a:off x="8564880" y="4832350"/>
            <a:ext cx="23190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串行依赖</a:t>
            </a:r>
            <a:r>
              <a:rPr lang="en-US" altLang="zh-CN" sz="2400" dirty="0"/>
              <a:t>+</a:t>
            </a:r>
            <a:r>
              <a:rPr lang="zh-CN" altLang="en-US" sz="2400" dirty="0"/>
              <a:t>并行</a:t>
            </a:r>
          </a:p>
        </p:txBody>
      </p:sp>
    </p:spTree>
    <p:extLst>
      <p:ext uri="{BB962C8B-B14F-4D97-AF65-F5344CB8AC3E}">
        <p14:creationId xmlns:p14="http://schemas.microsoft.com/office/powerpoint/2010/main" val="2916034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strip"/>
          <p:cNvSpPr/>
          <p:nvPr/>
        </p:nvSpPr>
        <p:spPr>
          <a:xfrm>
            <a:off x="0" y="-11430"/>
            <a:ext cx="12192000" cy="175260"/>
          </a:xfrm>
          <a:prstGeom prst="rect">
            <a:avLst/>
          </a:prstGeom>
          <a:solidFill>
            <a:srgbClr val="122E66"/>
          </a:solidFill>
          <a:ln>
            <a:noFill/>
          </a:ln>
        </p:spPr>
      </p:sp>
      <p:sp>
        <p:nvSpPr>
          <p:cNvPr id="3" name="nav-panel"/>
          <p:cNvSpPr/>
          <p:nvPr/>
        </p:nvSpPr>
        <p:spPr>
          <a:xfrm>
            <a:off x="0" y="163830"/>
            <a:ext cx="1164590" cy="66865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" name="nav-0"/>
          <p:cNvSpPr txBox="1"/>
          <p:nvPr/>
        </p:nvSpPr>
        <p:spPr>
          <a:xfrm>
            <a:off x="85090" y="1894840"/>
            <a:ext cx="981710" cy="3086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noProof="1">
                <a:solidFill>
                  <a:srgbClr val="808080"/>
                </a:solidFill>
                <a:latin typeface="阿里巴巴普惠体 R"/>
                <a:ea typeface="阿里巴巴普惠体 R"/>
              </a:rPr>
              <a:t>研究动机</a:t>
            </a:r>
            <a:endParaRPr lang="en-US" sz="1400" noProof="1"/>
          </a:p>
        </p:txBody>
      </p:sp>
      <p:sp>
        <p:nvSpPr>
          <p:cNvPr id="5" name="nav-1"/>
          <p:cNvSpPr txBox="1"/>
          <p:nvPr/>
        </p:nvSpPr>
        <p:spPr>
          <a:xfrm>
            <a:off x="85090" y="2550160"/>
            <a:ext cx="981710" cy="3086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noProof="1">
                <a:solidFill>
                  <a:srgbClr val="808080"/>
                </a:solidFill>
                <a:latin typeface="阿里巴巴普惠体 R"/>
                <a:ea typeface="阿里巴巴普惠体 R"/>
              </a:rPr>
              <a:t>核心问题</a:t>
            </a:r>
            <a:endParaRPr lang="en-US" sz="1400" noProof="1"/>
          </a:p>
        </p:txBody>
      </p:sp>
      <p:sp>
        <p:nvSpPr>
          <p:cNvPr id="6" name="nav-hl"/>
          <p:cNvSpPr/>
          <p:nvPr/>
        </p:nvSpPr>
        <p:spPr>
          <a:xfrm>
            <a:off x="-6350" y="3202940"/>
            <a:ext cx="1164590" cy="36449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7" name="nav-2"/>
          <p:cNvSpPr txBox="1"/>
          <p:nvPr/>
        </p:nvSpPr>
        <p:spPr>
          <a:xfrm>
            <a:off x="85090" y="3205480"/>
            <a:ext cx="981710" cy="3086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zh-CN" altLang="en-US" sz="1400" noProof="1">
                <a:latin typeface="阿里巴巴普惠体 R"/>
                <a:ea typeface="阿里巴巴普惠体 R"/>
              </a:rPr>
              <a:t>具体工作</a:t>
            </a:r>
            <a:endParaRPr lang="en-US" altLang="zh-CN" sz="1400" noProof="1"/>
          </a:p>
        </p:txBody>
      </p:sp>
      <p:sp>
        <p:nvSpPr>
          <p:cNvPr id="8" name="nav-3"/>
          <p:cNvSpPr txBox="1"/>
          <p:nvPr/>
        </p:nvSpPr>
        <p:spPr>
          <a:xfrm>
            <a:off x="85090" y="3862070"/>
            <a:ext cx="981710" cy="3086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noProof="1">
                <a:solidFill>
                  <a:srgbClr val="808080"/>
                </a:solidFill>
                <a:latin typeface="阿里巴巴普惠体 R"/>
                <a:ea typeface="阿里巴巴普惠体 R"/>
              </a:rPr>
              <a:t>研究计划</a:t>
            </a:r>
            <a:endParaRPr lang="en-US" sz="1400" noProof="1"/>
          </a:p>
        </p:txBody>
      </p:sp>
      <p:sp>
        <p:nvSpPr>
          <p:cNvPr id="10" name="logo"/>
          <p:cNvSpPr/>
          <p:nvPr/>
        </p:nvSpPr>
        <p:spPr>
          <a:xfrm>
            <a:off x="49530" y="257810"/>
            <a:ext cx="1047750" cy="815340"/>
          </a:xfrm>
          <a:custGeom>
            <a:avLst/>
            <a:gdLst/>
            <a:ahLst/>
            <a:cxnLst/>
            <a:rect l="l" t="t" r="r" b="b"/>
            <a:pathLst>
              <a:path w="2036266" h="1623111">
                <a:moveTo>
                  <a:pt x="0" y="0"/>
                </a:moveTo>
                <a:lnTo>
                  <a:pt x="2036266" y="0"/>
                </a:lnTo>
                <a:lnTo>
                  <a:pt x="2036266" y="1623111"/>
                </a:lnTo>
                <a:lnTo>
                  <a:pt x="0" y="16231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11" name="hd-line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eyJ2aWV3Qm94IjpbMSwyNy4yXSwicG9pbnRzIjoiMC41LDAgMC41LDI3LjIiLCJjdXJ2ZSI6InNoYXJwIn0</pptd:line>
              </p:ext>
            </p:extLst>
          </p:nvPr>
        </p:nvSpPr>
        <p:spPr>
          <a:xfrm>
            <a:off x="1625600" y="431800"/>
            <a:ext cx="12700" cy="345440"/>
          </a:xfrm>
          <a:custGeom>
            <a:avLst/>
            <a:gdLst/>
            <a:ahLst/>
            <a:cxnLst/>
            <a:rect l="l" t="t" r="r" b="b"/>
            <a:pathLst>
              <a:path w="1" h="27">
                <a:moveTo>
                  <a:pt x="1" y="0"/>
                </a:moveTo>
                <a:lnTo>
                  <a:pt x="1" y="27"/>
                </a:lnTo>
              </a:path>
            </a:pathLst>
          </a:custGeom>
          <a:noFill/>
          <a:ln w="92075">
            <a:solidFill>
              <a:srgbClr val="122E66"/>
            </a:solidFill>
          </a:ln>
        </p:spPr>
      </p:sp>
      <p:sp>
        <p:nvSpPr>
          <p:cNvPr id="12" name="hd-num"/>
          <p:cNvSpPr txBox="1"/>
          <p:nvPr/>
        </p:nvSpPr>
        <p:spPr>
          <a:xfrm>
            <a:off x="1804670" y="458470"/>
            <a:ext cx="698500" cy="3086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endParaRPr lang="en-US" sz="2000" noProof="1"/>
          </a:p>
        </p:txBody>
      </p:sp>
      <p:sp>
        <p:nvSpPr>
          <p:cNvPr id="13" name="hd-title"/>
          <p:cNvSpPr txBox="1"/>
          <p:nvPr/>
        </p:nvSpPr>
        <p:spPr>
          <a:xfrm>
            <a:off x="2301240" y="458470"/>
            <a:ext cx="9525000" cy="3086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noProof="1">
                <a:solidFill>
                  <a:srgbClr val="000000"/>
                </a:solidFill>
                <a:latin typeface="OPPOSans B"/>
                <a:ea typeface="OPPOSans B"/>
              </a:rPr>
              <a:t>拆解器不是生成最多步骤，而是</a:t>
            </a:r>
            <a:r>
              <a:rPr lang="zh-CN" altLang="en-US" sz="2000" noProof="1">
                <a:solidFill>
                  <a:srgbClr val="000000"/>
                </a:solidFill>
                <a:latin typeface="OPPOSans B"/>
                <a:ea typeface="OPPOSans B"/>
              </a:rPr>
              <a:t>尽可能减少运行成本</a:t>
            </a:r>
            <a:endParaRPr lang="en-US" sz="2000" noProof="1"/>
          </a:p>
        </p:txBody>
      </p:sp>
      <p:sp>
        <p:nvSpPr>
          <p:cNvPr id="15" name="hd-div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eyJ2aWV3Qm94IjpbODEwLjYsMV0sInBvaW50cyI6IjAsMC41IDgxMC42LDAuNSIsImN1cnZlIjoic2hhcnAifQ</pptd:line>
              </p:ext>
            </p:extLst>
          </p:nvPr>
        </p:nvSpPr>
        <p:spPr>
          <a:xfrm>
            <a:off x="1625600" y="1121410"/>
            <a:ext cx="10294620" cy="12700"/>
          </a:xfrm>
          <a:custGeom>
            <a:avLst/>
            <a:gdLst/>
            <a:ahLst/>
            <a:cxnLst/>
            <a:rect l="l" t="t" r="r" b="b"/>
            <a:pathLst>
              <a:path w="811" h="1">
                <a:moveTo>
                  <a:pt x="0" y="1"/>
                </a:moveTo>
                <a:lnTo>
                  <a:pt x="811" y="1"/>
                </a:lnTo>
              </a:path>
            </a:pathLst>
          </a:custGeom>
          <a:noFill/>
          <a:ln w="12700">
            <a:solidFill>
              <a:srgbClr val="D9D9D9"/>
            </a:solidFill>
          </a:ln>
        </p:spPr>
      </p:sp>
      <p:sp>
        <p:nvSpPr>
          <p:cNvPr id="18" name="p12-bg0"/>
          <p:cNvSpPr/>
          <p:nvPr/>
        </p:nvSpPr>
        <p:spPr>
          <a:xfrm>
            <a:off x="1625600" y="1422400"/>
            <a:ext cx="50800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19" name="p12-lb0"/>
          <p:cNvSpPr txBox="1"/>
          <p:nvPr/>
        </p:nvSpPr>
        <p:spPr>
          <a:xfrm>
            <a:off x="1778000" y="14986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122E66"/>
                </a:solidFill>
                <a:latin typeface="OPPOSans B"/>
                <a:ea typeface="OPPOSans B"/>
              </a:rPr>
              <a:t>方案一：整题调用</a:t>
            </a:r>
            <a:endParaRPr lang="en-US" sz="1600" noProof="1"/>
          </a:p>
        </p:txBody>
      </p:sp>
      <p:sp>
        <p:nvSpPr>
          <p:cNvPr id="20" name="p12-bg1"/>
          <p:cNvSpPr/>
          <p:nvPr/>
        </p:nvSpPr>
        <p:spPr>
          <a:xfrm>
            <a:off x="1625600" y="2997200"/>
            <a:ext cx="50800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21" name="p12-lb1"/>
          <p:cNvSpPr txBox="1"/>
          <p:nvPr/>
        </p:nvSpPr>
        <p:spPr>
          <a:xfrm>
            <a:off x="1778000" y="30734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122E66"/>
                </a:solidFill>
                <a:latin typeface="OPPOSans B"/>
                <a:ea typeface="OPPOSans B"/>
              </a:rPr>
              <a:t>方案二：粗粒度 DAG</a:t>
            </a:r>
            <a:endParaRPr lang="en-US" sz="1600" noProof="1"/>
          </a:p>
        </p:txBody>
      </p:sp>
      <p:sp>
        <p:nvSpPr>
          <p:cNvPr id="22" name="p12-bg2"/>
          <p:cNvSpPr/>
          <p:nvPr/>
        </p:nvSpPr>
        <p:spPr>
          <a:xfrm>
            <a:off x="1625600" y="4572000"/>
            <a:ext cx="50800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23" name="p12-lb2"/>
          <p:cNvSpPr txBox="1"/>
          <p:nvPr/>
        </p:nvSpPr>
        <p:spPr>
          <a:xfrm>
            <a:off x="1778000" y="46482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122E66"/>
                </a:solidFill>
                <a:latin typeface="OPPOSans B"/>
                <a:ea typeface="OPPOSans B"/>
              </a:rPr>
              <a:t>方案三：细粒度 DAG</a:t>
            </a:r>
            <a:endParaRPr lang="en-US" sz="1600" noProof="1"/>
          </a:p>
        </p:txBody>
      </p:sp>
      <p:sp>
        <p:nvSpPr>
          <p:cNvPr id="24" name="p12-a-n"/>
          <p:cNvSpPr/>
          <p:nvPr/>
        </p:nvSpPr>
        <p:spPr>
          <a:xfrm>
            <a:off x="3441405" y="1881845"/>
            <a:ext cx="1651000" cy="558800"/>
          </a:xfrm>
          <a:prstGeom prst="roundRect">
            <a:avLst>
              <a:gd name="adj" fmla="val 30000"/>
            </a:avLst>
          </a:prstGeom>
          <a:solidFill>
            <a:srgbClr val="122E66"/>
          </a:solidFill>
          <a:ln>
            <a:noFill/>
          </a:ln>
        </p:spPr>
      </p:sp>
      <p:sp>
        <p:nvSpPr>
          <p:cNvPr id="25" name="p12-a-n-t"/>
          <p:cNvSpPr txBox="1"/>
          <p:nvPr/>
        </p:nvSpPr>
        <p:spPr>
          <a:xfrm>
            <a:off x="3466805" y="1881845"/>
            <a:ext cx="16002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en-US" sz="1600" noProof="1">
                <a:solidFill>
                  <a:srgbClr val="FFFFFF"/>
                </a:solidFill>
                <a:latin typeface="阿里巴巴普惠体 R"/>
                <a:ea typeface="阿里巴巴普惠体 R"/>
              </a:rPr>
              <a:t>大模型整体求解</a:t>
            </a:r>
            <a:endParaRPr lang="en-US" sz="1600" noProof="1"/>
          </a:p>
        </p:txBody>
      </p:sp>
      <p:sp>
        <p:nvSpPr>
          <p:cNvPr id="26" name="p12-b-n1"/>
          <p:cNvSpPr/>
          <p:nvPr/>
        </p:nvSpPr>
        <p:spPr>
          <a:xfrm>
            <a:off x="1981200" y="3403600"/>
            <a:ext cx="1219200" cy="457200"/>
          </a:xfrm>
          <a:prstGeom prst="roundRect">
            <a:avLst>
              <a:gd name="adj" fmla="val 30000"/>
            </a:avLst>
          </a:prstGeom>
          <a:solidFill>
            <a:srgbClr val="A9C7E8"/>
          </a:solidFill>
          <a:ln>
            <a:noFill/>
          </a:ln>
        </p:spPr>
      </p:sp>
      <p:sp>
        <p:nvSpPr>
          <p:cNvPr id="27" name="p12-b-n1-t"/>
          <p:cNvSpPr txBox="1"/>
          <p:nvPr/>
        </p:nvSpPr>
        <p:spPr>
          <a:xfrm>
            <a:off x="2006600" y="3403600"/>
            <a:ext cx="1168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en-US" sz="1400" noProof="1">
                <a:solidFill>
                  <a:srgbClr val="262626"/>
                </a:solidFill>
                <a:latin typeface="阿里巴巴普惠体 R"/>
                <a:ea typeface="阿里巴巴普惠体 R"/>
              </a:rPr>
              <a:t>检索</a:t>
            </a:r>
            <a:endParaRPr lang="en-US" sz="1400" noProof="1"/>
          </a:p>
        </p:txBody>
      </p:sp>
      <p:sp>
        <p:nvSpPr>
          <p:cNvPr id="28" name="p12-b-a1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eyJ2aWV3Qm94IjpbMzAsMl0sInBvaW50cyI6IjAsMSAzMCwxIiwiY3VydmUiOiJzaGFycCJ9</pptd:line>
              </p:ext>
            </p:extLst>
          </p:nvPr>
        </p:nvSpPr>
        <p:spPr>
          <a:xfrm>
            <a:off x="3251200" y="3619500"/>
            <a:ext cx="381000" cy="25400"/>
          </a:xfrm>
          <a:custGeom>
            <a:avLst/>
            <a:gdLst/>
            <a:ahLst/>
            <a:cxnLst/>
            <a:rect l="l" t="t" r="r" b="b"/>
            <a:pathLst>
              <a:path w="30" h="2">
                <a:moveTo>
                  <a:pt x="0" y="1"/>
                </a:moveTo>
                <a:lnTo>
                  <a:pt x="30" y="1"/>
                </a:lnTo>
              </a:path>
            </a:pathLst>
          </a:custGeom>
          <a:noFill/>
          <a:ln w="19050">
            <a:solidFill>
              <a:srgbClr val="2673B7"/>
            </a:solidFill>
            <a:tailEnd type="arrow"/>
          </a:ln>
        </p:spPr>
      </p:sp>
      <p:sp>
        <p:nvSpPr>
          <p:cNvPr id="29" name="p12-b-n2"/>
          <p:cNvSpPr/>
          <p:nvPr/>
        </p:nvSpPr>
        <p:spPr>
          <a:xfrm>
            <a:off x="3683000" y="3403600"/>
            <a:ext cx="1219200" cy="457200"/>
          </a:xfrm>
          <a:prstGeom prst="roundRect">
            <a:avLst>
              <a:gd name="adj" fmla="val 30000"/>
            </a:avLst>
          </a:prstGeom>
          <a:solidFill>
            <a:srgbClr val="A9C7E8"/>
          </a:solidFill>
          <a:ln>
            <a:noFill/>
          </a:ln>
        </p:spPr>
      </p:sp>
      <p:sp>
        <p:nvSpPr>
          <p:cNvPr id="30" name="p12-b-n2-t"/>
          <p:cNvSpPr txBox="1"/>
          <p:nvPr/>
        </p:nvSpPr>
        <p:spPr>
          <a:xfrm>
            <a:off x="3708400" y="3403600"/>
            <a:ext cx="1168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en-US" sz="1400" noProof="1">
                <a:solidFill>
                  <a:srgbClr val="262626"/>
                </a:solidFill>
                <a:latin typeface="阿里巴巴普惠体 R"/>
                <a:ea typeface="阿里巴巴普惠体 R"/>
              </a:rPr>
              <a:t>分析</a:t>
            </a:r>
            <a:endParaRPr lang="en-US" sz="1400" noProof="1"/>
          </a:p>
        </p:txBody>
      </p:sp>
      <p:sp>
        <p:nvSpPr>
          <p:cNvPr id="31" name="p12-b-a2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eyJ2aWV3Qm94IjpbMzAsMl0sInBvaW50cyI6IjAsMSAzMCwxIiwiY3VydmUiOiJzaGFycCJ9</pptd:line>
              </p:ext>
            </p:extLst>
          </p:nvPr>
        </p:nvSpPr>
        <p:spPr>
          <a:xfrm>
            <a:off x="4953000" y="3619500"/>
            <a:ext cx="381000" cy="25400"/>
          </a:xfrm>
          <a:custGeom>
            <a:avLst/>
            <a:gdLst/>
            <a:ahLst/>
            <a:cxnLst/>
            <a:rect l="l" t="t" r="r" b="b"/>
            <a:pathLst>
              <a:path w="30" h="2">
                <a:moveTo>
                  <a:pt x="0" y="1"/>
                </a:moveTo>
                <a:lnTo>
                  <a:pt x="30" y="1"/>
                </a:lnTo>
              </a:path>
            </a:pathLst>
          </a:custGeom>
          <a:noFill/>
          <a:ln w="19050">
            <a:solidFill>
              <a:srgbClr val="2673B7"/>
            </a:solidFill>
            <a:tailEnd type="arrow"/>
          </a:ln>
        </p:spPr>
      </p:sp>
      <p:sp>
        <p:nvSpPr>
          <p:cNvPr id="32" name="p12-b-n3"/>
          <p:cNvSpPr/>
          <p:nvPr/>
        </p:nvSpPr>
        <p:spPr>
          <a:xfrm>
            <a:off x="5384800" y="3403600"/>
            <a:ext cx="1219200" cy="457200"/>
          </a:xfrm>
          <a:prstGeom prst="roundRect">
            <a:avLst>
              <a:gd name="adj" fmla="val 30000"/>
            </a:avLst>
          </a:prstGeom>
          <a:solidFill>
            <a:srgbClr val="122E66"/>
          </a:solidFill>
          <a:ln>
            <a:noFill/>
          </a:ln>
        </p:spPr>
      </p:sp>
      <p:sp>
        <p:nvSpPr>
          <p:cNvPr id="33" name="p12-b-n3-t"/>
          <p:cNvSpPr txBox="1"/>
          <p:nvPr/>
        </p:nvSpPr>
        <p:spPr>
          <a:xfrm>
            <a:off x="5410200" y="3403600"/>
            <a:ext cx="1168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en-US" sz="1400" noProof="1">
                <a:solidFill>
                  <a:srgbClr val="FFFFFF"/>
                </a:solidFill>
                <a:latin typeface="阿里巴巴普惠体 R"/>
                <a:ea typeface="阿里巴巴普惠体 R"/>
              </a:rPr>
              <a:t>综合</a:t>
            </a:r>
            <a:endParaRPr lang="en-US" sz="1400" noProof="1"/>
          </a:p>
        </p:txBody>
      </p:sp>
      <p:sp>
        <p:nvSpPr>
          <p:cNvPr id="34" name="p12-c-n0"/>
          <p:cNvSpPr/>
          <p:nvPr/>
        </p:nvSpPr>
        <p:spPr>
          <a:xfrm>
            <a:off x="1981200" y="4978400"/>
            <a:ext cx="1219200" cy="355600"/>
          </a:xfrm>
          <a:prstGeom prst="roundRect">
            <a:avLst>
              <a:gd name="adj" fmla="val 30000"/>
            </a:avLst>
          </a:prstGeom>
          <a:solidFill>
            <a:srgbClr val="A9C7E8"/>
          </a:solidFill>
          <a:ln>
            <a:noFill/>
          </a:ln>
        </p:spPr>
      </p:sp>
      <p:sp>
        <p:nvSpPr>
          <p:cNvPr id="35" name="p12-c-n0-t"/>
          <p:cNvSpPr txBox="1"/>
          <p:nvPr/>
        </p:nvSpPr>
        <p:spPr>
          <a:xfrm>
            <a:off x="2006600" y="4978400"/>
            <a:ext cx="11684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en-US" sz="1200" noProof="1">
                <a:solidFill>
                  <a:srgbClr val="262626"/>
                </a:solidFill>
                <a:latin typeface="阿里巴巴普惠体 R"/>
                <a:ea typeface="阿里巴巴普惠体 R"/>
              </a:rPr>
              <a:t>改写</a:t>
            </a:r>
            <a:endParaRPr lang="en-US" sz="1200" noProof="1"/>
          </a:p>
        </p:txBody>
      </p:sp>
      <p:sp>
        <p:nvSpPr>
          <p:cNvPr id="36" name="p12-c-n1"/>
          <p:cNvSpPr/>
          <p:nvPr/>
        </p:nvSpPr>
        <p:spPr>
          <a:xfrm>
            <a:off x="3683000" y="4978400"/>
            <a:ext cx="1219200" cy="355600"/>
          </a:xfrm>
          <a:prstGeom prst="roundRect">
            <a:avLst>
              <a:gd name="adj" fmla="val 30000"/>
            </a:avLst>
          </a:prstGeom>
          <a:solidFill>
            <a:srgbClr val="A9C7E8"/>
          </a:solidFill>
          <a:ln>
            <a:noFill/>
          </a:ln>
        </p:spPr>
      </p:sp>
      <p:sp>
        <p:nvSpPr>
          <p:cNvPr id="37" name="p12-c-n1-t"/>
          <p:cNvSpPr txBox="1"/>
          <p:nvPr/>
        </p:nvSpPr>
        <p:spPr>
          <a:xfrm>
            <a:off x="3708400" y="4978400"/>
            <a:ext cx="11684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en-US" sz="1200" noProof="1">
                <a:solidFill>
                  <a:srgbClr val="262626"/>
                </a:solidFill>
                <a:latin typeface="阿里巴巴普惠体 R"/>
                <a:ea typeface="阿里巴巴普惠体 R"/>
              </a:rPr>
              <a:t>检索</a:t>
            </a:r>
            <a:endParaRPr lang="en-US" sz="1200" noProof="1"/>
          </a:p>
        </p:txBody>
      </p:sp>
      <p:sp>
        <p:nvSpPr>
          <p:cNvPr id="38" name="p12-c-n2"/>
          <p:cNvSpPr/>
          <p:nvPr/>
        </p:nvSpPr>
        <p:spPr>
          <a:xfrm>
            <a:off x="5384800" y="4978400"/>
            <a:ext cx="1219200" cy="355600"/>
          </a:xfrm>
          <a:prstGeom prst="roundRect">
            <a:avLst>
              <a:gd name="adj" fmla="val 30000"/>
            </a:avLst>
          </a:prstGeom>
          <a:solidFill>
            <a:srgbClr val="A9C7E8"/>
          </a:solidFill>
          <a:ln>
            <a:noFill/>
          </a:ln>
        </p:spPr>
      </p:sp>
      <p:sp>
        <p:nvSpPr>
          <p:cNvPr id="39" name="p12-c-n2-t"/>
          <p:cNvSpPr txBox="1"/>
          <p:nvPr/>
        </p:nvSpPr>
        <p:spPr>
          <a:xfrm>
            <a:off x="5410200" y="4978400"/>
            <a:ext cx="11684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en-US" sz="1200" noProof="1">
                <a:solidFill>
                  <a:srgbClr val="262626"/>
                </a:solidFill>
                <a:latin typeface="阿里巴巴普惠体 R"/>
                <a:ea typeface="阿里巴巴普惠体 R"/>
              </a:rPr>
              <a:t>抽取</a:t>
            </a:r>
            <a:endParaRPr lang="en-US" sz="1200" noProof="1"/>
          </a:p>
        </p:txBody>
      </p:sp>
      <p:sp>
        <p:nvSpPr>
          <p:cNvPr id="40" name="p12-c-n3"/>
          <p:cNvSpPr/>
          <p:nvPr/>
        </p:nvSpPr>
        <p:spPr>
          <a:xfrm>
            <a:off x="1981200" y="5537200"/>
            <a:ext cx="1219200" cy="355600"/>
          </a:xfrm>
          <a:prstGeom prst="roundRect">
            <a:avLst>
              <a:gd name="adj" fmla="val 30000"/>
            </a:avLst>
          </a:prstGeom>
          <a:solidFill>
            <a:srgbClr val="A9C7E8"/>
          </a:solidFill>
          <a:ln>
            <a:noFill/>
          </a:ln>
        </p:spPr>
      </p:sp>
      <p:sp>
        <p:nvSpPr>
          <p:cNvPr id="41" name="p12-c-n3-t"/>
          <p:cNvSpPr txBox="1"/>
          <p:nvPr/>
        </p:nvSpPr>
        <p:spPr>
          <a:xfrm>
            <a:off x="2006600" y="5537200"/>
            <a:ext cx="11684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en-US" sz="1200" noProof="1">
                <a:solidFill>
                  <a:srgbClr val="262626"/>
                </a:solidFill>
                <a:latin typeface="阿里巴巴普惠体 R"/>
                <a:ea typeface="阿里巴巴普惠体 R"/>
              </a:rPr>
              <a:t>筛选</a:t>
            </a:r>
            <a:endParaRPr lang="en-US" sz="1200" noProof="1"/>
          </a:p>
        </p:txBody>
      </p:sp>
      <p:sp>
        <p:nvSpPr>
          <p:cNvPr id="42" name="p12-c-n4"/>
          <p:cNvSpPr/>
          <p:nvPr/>
        </p:nvSpPr>
        <p:spPr>
          <a:xfrm>
            <a:off x="3683000" y="5537200"/>
            <a:ext cx="1219200" cy="355600"/>
          </a:xfrm>
          <a:prstGeom prst="roundRect">
            <a:avLst>
              <a:gd name="adj" fmla="val 30000"/>
            </a:avLst>
          </a:prstGeom>
          <a:solidFill>
            <a:srgbClr val="122E66"/>
          </a:solidFill>
          <a:ln>
            <a:noFill/>
          </a:ln>
        </p:spPr>
      </p:sp>
      <p:sp>
        <p:nvSpPr>
          <p:cNvPr id="43" name="p12-c-n4-t"/>
          <p:cNvSpPr txBox="1"/>
          <p:nvPr/>
        </p:nvSpPr>
        <p:spPr>
          <a:xfrm>
            <a:off x="3708400" y="5537200"/>
            <a:ext cx="11684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en-US" sz="1200" noProof="1">
                <a:solidFill>
                  <a:srgbClr val="FFFFFF"/>
                </a:solidFill>
                <a:latin typeface="阿里巴巴普惠体 R"/>
                <a:ea typeface="阿里巴巴普惠体 R"/>
              </a:rPr>
              <a:t>判断</a:t>
            </a:r>
            <a:endParaRPr lang="en-US" sz="1200" noProof="1"/>
          </a:p>
        </p:txBody>
      </p:sp>
      <p:sp>
        <p:nvSpPr>
          <p:cNvPr id="44" name="p12-c-n5"/>
          <p:cNvSpPr/>
          <p:nvPr/>
        </p:nvSpPr>
        <p:spPr>
          <a:xfrm>
            <a:off x="5384800" y="5537200"/>
            <a:ext cx="1219200" cy="355600"/>
          </a:xfrm>
          <a:prstGeom prst="roundRect">
            <a:avLst>
              <a:gd name="adj" fmla="val 30000"/>
            </a:avLst>
          </a:prstGeom>
          <a:solidFill>
            <a:srgbClr val="D9D9D9"/>
          </a:solidFill>
          <a:ln>
            <a:noFill/>
          </a:ln>
        </p:spPr>
      </p:sp>
      <p:sp>
        <p:nvSpPr>
          <p:cNvPr id="45" name="p12-c-n5-t"/>
          <p:cNvSpPr txBox="1"/>
          <p:nvPr/>
        </p:nvSpPr>
        <p:spPr>
          <a:xfrm>
            <a:off x="5410200" y="5537200"/>
            <a:ext cx="11684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en-US" sz="1200" noProof="1">
                <a:solidFill>
                  <a:srgbClr val="262626"/>
                </a:solidFill>
                <a:latin typeface="阿里巴巴普惠体 R"/>
                <a:ea typeface="阿里巴巴普惠体 R"/>
              </a:rPr>
              <a:t>核验</a:t>
            </a:r>
            <a:endParaRPr lang="en-US" sz="1200" noProof="1"/>
          </a:p>
        </p:txBody>
      </p:sp>
      <p:sp>
        <p:nvSpPr>
          <p:cNvPr id="46" name="p12-c-a0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eyJ2aWV3Qm94IjpbMzIsMl0sInBvaW50cyI6IjAsMSAzMiwxIiwiY3VydmUiOiJzaGFycCJ9</pptd:line>
              </p:ext>
            </p:extLst>
          </p:nvPr>
        </p:nvSpPr>
        <p:spPr>
          <a:xfrm>
            <a:off x="3225800" y="5143500"/>
            <a:ext cx="406400" cy="25400"/>
          </a:xfrm>
          <a:custGeom>
            <a:avLst/>
            <a:gdLst/>
            <a:ahLst/>
            <a:cxnLst/>
            <a:rect l="l" t="t" r="r" b="b"/>
            <a:pathLst>
              <a:path w="32" h="2">
                <a:moveTo>
                  <a:pt x="0" y="1"/>
                </a:moveTo>
                <a:lnTo>
                  <a:pt x="32" y="1"/>
                </a:lnTo>
              </a:path>
            </a:pathLst>
          </a:custGeom>
          <a:noFill/>
          <a:ln w="15875">
            <a:solidFill>
              <a:srgbClr val="2673B7"/>
            </a:solidFill>
            <a:tailEnd type="arrow"/>
          </a:ln>
        </p:spPr>
      </p:sp>
      <p:sp>
        <p:nvSpPr>
          <p:cNvPr id="47" name="p12-c-a1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eyJ2aWV3Qm94IjpbMzIsMl0sInBvaW50cyI6IjAsMSAzMiwxIiwiY3VydmUiOiJzaGFycCJ9</pptd:line>
              </p:ext>
            </p:extLst>
          </p:nvPr>
        </p:nvSpPr>
        <p:spPr>
          <a:xfrm>
            <a:off x="4927600" y="5143500"/>
            <a:ext cx="406400" cy="25400"/>
          </a:xfrm>
          <a:custGeom>
            <a:avLst/>
            <a:gdLst/>
            <a:ahLst/>
            <a:cxnLst/>
            <a:rect l="l" t="t" r="r" b="b"/>
            <a:pathLst>
              <a:path w="32" h="2">
                <a:moveTo>
                  <a:pt x="0" y="1"/>
                </a:moveTo>
                <a:lnTo>
                  <a:pt x="32" y="1"/>
                </a:lnTo>
              </a:path>
            </a:pathLst>
          </a:custGeom>
          <a:noFill/>
          <a:ln w="15875">
            <a:solidFill>
              <a:srgbClr val="2673B7"/>
            </a:solidFill>
            <a:tailEnd type="arrow"/>
          </a:ln>
        </p:spPr>
      </p:sp>
      <p:sp>
        <p:nvSpPr>
          <p:cNvPr id="48" name="p12-c-a2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eyJ2aWV3Qm94IjpbMzIsMl0sInBvaW50cyI6IjAsMSAzMiwxIiwiY3VydmUiOiJzaGFycCJ9</pptd:line>
              </p:ext>
            </p:extLst>
          </p:nvPr>
        </p:nvSpPr>
        <p:spPr>
          <a:xfrm>
            <a:off x="3225800" y="5702300"/>
            <a:ext cx="406400" cy="25400"/>
          </a:xfrm>
          <a:custGeom>
            <a:avLst/>
            <a:gdLst/>
            <a:ahLst/>
            <a:cxnLst/>
            <a:rect l="l" t="t" r="r" b="b"/>
            <a:pathLst>
              <a:path w="32" h="2">
                <a:moveTo>
                  <a:pt x="0" y="1"/>
                </a:moveTo>
                <a:lnTo>
                  <a:pt x="32" y="1"/>
                </a:lnTo>
              </a:path>
            </a:pathLst>
          </a:custGeom>
          <a:noFill/>
          <a:ln w="15875">
            <a:solidFill>
              <a:srgbClr val="2673B7"/>
            </a:solidFill>
            <a:tailEnd type="arrow"/>
          </a:ln>
        </p:spPr>
      </p:sp>
      <p:sp>
        <p:nvSpPr>
          <p:cNvPr id="49" name="p12-c-a3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eyJ2aWV3Qm94IjpbMzIsMl0sInBvaW50cyI6IjAsMSAzMiwxIiwiY3VydmUiOiJzaGFycCJ9</pptd:line>
              </p:ext>
            </p:extLst>
          </p:nvPr>
        </p:nvSpPr>
        <p:spPr>
          <a:xfrm>
            <a:off x="4927600" y="5702300"/>
            <a:ext cx="406400" cy="25400"/>
          </a:xfrm>
          <a:custGeom>
            <a:avLst/>
            <a:gdLst/>
            <a:ahLst/>
            <a:cxnLst/>
            <a:rect l="l" t="t" r="r" b="b"/>
            <a:pathLst>
              <a:path w="32" h="2">
                <a:moveTo>
                  <a:pt x="0" y="1"/>
                </a:moveTo>
                <a:lnTo>
                  <a:pt x="32" y="1"/>
                </a:lnTo>
              </a:path>
            </a:pathLst>
          </a:custGeom>
          <a:noFill/>
          <a:ln w="15875">
            <a:solidFill>
              <a:srgbClr val="2673B7"/>
            </a:solidFill>
            <a:tailEnd type="arrow"/>
          </a:ln>
        </p:spPr>
      </p:sp>
      <p:sp>
        <p:nvSpPr>
          <p:cNvPr id="50" name="p12-r1"/>
          <p:cNvSpPr/>
          <p:nvPr/>
        </p:nvSpPr>
        <p:spPr>
          <a:xfrm>
            <a:off x="7061200" y="1422400"/>
            <a:ext cx="4749800" cy="452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51" name="p12-r1h"/>
          <p:cNvSpPr txBox="1"/>
          <p:nvPr/>
        </p:nvSpPr>
        <p:spPr>
          <a:xfrm>
            <a:off x="7239000" y="1549400"/>
            <a:ext cx="431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zh-CN" altLang="en-US" sz="2800" b="1" noProof="1">
                <a:solidFill>
                  <a:srgbClr val="122E66"/>
                </a:solidFill>
                <a:latin typeface="OPPOSans B"/>
                <a:ea typeface="OPPOSans B"/>
              </a:rPr>
              <a:t>子任务拆解并不是越细越好</a:t>
            </a:r>
            <a:endParaRPr lang="en-US" sz="2800" noProof="1"/>
          </a:p>
        </p:txBody>
      </p:sp>
      <p:sp>
        <p:nvSpPr>
          <p:cNvPr id="52" name="p12-r1b"/>
          <p:cNvSpPr txBox="1"/>
          <p:nvPr/>
        </p:nvSpPr>
        <p:spPr>
          <a:xfrm>
            <a:off x="7239000" y="2440644"/>
            <a:ext cx="4394200" cy="25377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zh-CN" altLang="en-US" sz="2400" noProof="1"/>
              <a:t>模型调用和通信成本的增加</a:t>
            </a:r>
            <a:endParaRPr lang="en-US" altLang="zh-CN" sz="2400" noProof="1"/>
          </a:p>
          <a:p>
            <a:pPr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zh-CN" altLang="en-US" sz="2400" noProof="1"/>
              <a:t>依赖关系和结果聚合更加复杂</a:t>
            </a:r>
            <a:endParaRPr lang="en-US" altLang="zh-CN" sz="2400" noProof="1"/>
          </a:p>
          <a:p>
            <a:pPr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zh-CN" altLang="en-US" sz="2400" noProof="1"/>
              <a:t>拆解器本身成本的增加</a:t>
            </a:r>
            <a:endParaRPr lang="en-US" sz="2400" noProof="1"/>
          </a:p>
        </p:txBody>
      </p:sp>
      <p:sp>
        <p:nvSpPr>
          <p:cNvPr id="56" name="p12-con"/>
          <p:cNvSpPr txBox="1"/>
          <p:nvPr/>
        </p:nvSpPr>
        <p:spPr>
          <a:xfrm>
            <a:off x="1625600" y="6261100"/>
            <a:ext cx="10185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2000" noProof="1">
                <a:solidFill>
                  <a:srgbClr val="122E66"/>
                </a:solidFill>
                <a:latin typeface="阿里巴巴普惠体 R"/>
                <a:ea typeface="阿里巴巴普惠体 R"/>
              </a:rPr>
              <a:t>好的拆解在</a:t>
            </a:r>
            <a:r>
              <a:rPr lang="en-US" sz="2000" b="1" noProof="1">
                <a:solidFill>
                  <a:srgbClr val="122E66"/>
                </a:solidFill>
                <a:latin typeface="阿里巴巴普惠体 R"/>
                <a:ea typeface="阿里巴巴普惠体 R"/>
              </a:rPr>
              <a:t>额外编排成本</a:t>
            </a:r>
            <a:r>
              <a:rPr lang="en-US" sz="2000" noProof="1">
                <a:solidFill>
                  <a:srgbClr val="122E66"/>
                </a:solidFill>
                <a:latin typeface="阿里巴巴普惠体 R"/>
                <a:ea typeface="阿里巴巴普惠体 R"/>
              </a:rPr>
              <a:t>与</a:t>
            </a:r>
            <a:r>
              <a:rPr lang="en-US" sz="2000" b="1" noProof="1">
                <a:solidFill>
                  <a:srgbClr val="122E66"/>
                </a:solidFill>
                <a:latin typeface="阿里巴巴普惠体 R"/>
                <a:ea typeface="阿里巴巴普惠体 R"/>
              </a:rPr>
              <a:t>小模型可执行性</a:t>
            </a:r>
            <a:r>
              <a:rPr lang="en-US" sz="2000" noProof="1">
                <a:solidFill>
                  <a:srgbClr val="122E66"/>
                </a:solidFill>
                <a:latin typeface="阿里巴巴普惠体 R"/>
                <a:ea typeface="阿里巴巴普惠体 R"/>
              </a:rPr>
              <a:t>之间取得更好平衡</a:t>
            </a:r>
            <a:endParaRPr lang="en-US" sz="20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CA8A3-7A75-5CAB-78D4-A51CA3681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strip">
            <a:extLst>
              <a:ext uri="{FF2B5EF4-FFF2-40B4-BE49-F238E27FC236}">
                <a16:creationId xmlns:a16="http://schemas.microsoft.com/office/drawing/2014/main" id="{79E164FE-C277-557D-BE99-684C73A08BC5}"/>
              </a:ext>
            </a:extLst>
          </p:cNvPr>
          <p:cNvSpPr/>
          <p:nvPr/>
        </p:nvSpPr>
        <p:spPr>
          <a:xfrm>
            <a:off x="0" y="-11430"/>
            <a:ext cx="12192000" cy="175260"/>
          </a:xfrm>
          <a:prstGeom prst="rect">
            <a:avLst/>
          </a:prstGeom>
          <a:solidFill>
            <a:srgbClr val="122E66"/>
          </a:solidFill>
          <a:ln>
            <a:noFill/>
          </a:ln>
        </p:spPr>
      </p:sp>
      <p:sp>
        <p:nvSpPr>
          <p:cNvPr id="3" name="nav-panel">
            <a:extLst>
              <a:ext uri="{FF2B5EF4-FFF2-40B4-BE49-F238E27FC236}">
                <a16:creationId xmlns:a16="http://schemas.microsoft.com/office/drawing/2014/main" id="{838B2E0D-C926-D298-DFC5-9BBB1BDC43F2}"/>
              </a:ext>
            </a:extLst>
          </p:cNvPr>
          <p:cNvSpPr/>
          <p:nvPr/>
        </p:nvSpPr>
        <p:spPr>
          <a:xfrm>
            <a:off x="0" y="163830"/>
            <a:ext cx="1164590" cy="66865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" name="logo">
            <a:extLst>
              <a:ext uri="{FF2B5EF4-FFF2-40B4-BE49-F238E27FC236}">
                <a16:creationId xmlns:a16="http://schemas.microsoft.com/office/drawing/2014/main" id="{FFF72A93-E384-B46B-1F1F-95EEE7C1A0F8}"/>
              </a:ext>
            </a:extLst>
          </p:cNvPr>
          <p:cNvSpPr/>
          <p:nvPr/>
        </p:nvSpPr>
        <p:spPr>
          <a:xfrm>
            <a:off x="49530" y="257810"/>
            <a:ext cx="1047750" cy="815340"/>
          </a:xfrm>
          <a:custGeom>
            <a:avLst/>
            <a:gdLst/>
            <a:ahLst/>
            <a:cxnLst/>
            <a:rect l="l" t="t" r="r" b="b"/>
            <a:pathLst>
              <a:path w="2036266" h="1623111">
                <a:moveTo>
                  <a:pt x="0" y="0"/>
                </a:moveTo>
                <a:lnTo>
                  <a:pt x="2036266" y="0"/>
                </a:lnTo>
                <a:lnTo>
                  <a:pt x="2036266" y="1623111"/>
                </a:lnTo>
                <a:lnTo>
                  <a:pt x="0" y="16231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11" name="hd-line">
            <a:extLst>
              <a:ext uri="{FF2B5EF4-FFF2-40B4-BE49-F238E27FC236}">
                <a16:creationId xmlns:a16="http://schemas.microsoft.com/office/drawing/2014/main" id="{2E2540BC-F802-E48A-D17A-8B454905BC0E}"/>
              </a:ext>
            </a:extLst>
          </p:cNvPr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eyJ2aWV3Qm94IjpbMSwyNy4yXSwicG9pbnRzIjoiMC41LDAgMC41LDI3LjIiLCJjdXJ2ZSI6InNoYXJwIn0</pptd:line>
              </p:ext>
            </p:extLst>
          </p:nvPr>
        </p:nvSpPr>
        <p:spPr>
          <a:xfrm>
            <a:off x="1625600" y="431800"/>
            <a:ext cx="12700" cy="345440"/>
          </a:xfrm>
          <a:custGeom>
            <a:avLst/>
            <a:gdLst/>
            <a:ahLst/>
            <a:cxnLst/>
            <a:rect l="l" t="t" r="r" b="b"/>
            <a:pathLst>
              <a:path w="1" h="27">
                <a:moveTo>
                  <a:pt x="1" y="0"/>
                </a:moveTo>
                <a:lnTo>
                  <a:pt x="1" y="27"/>
                </a:lnTo>
              </a:path>
            </a:pathLst>
          </a:custGeom>
          <a:noFill/>
          <a:ln w="92075">
            <a:solidFill>
              <a:srgbClr val="122E66"/>
            </a:solidFill>
          </a:ln>
        </p:spPr>
      </p:sp>
      <p:sp>
        <p:nvSpPr>
          <p:cNvPr id="12" name="hd-num">
            <a:extLst>
              <a:ext uri="{FF2B5EF4-FFF2-40B4-BE49-F238E27FC236}">
                <a16:creationId xmlns:a16="http://schemas.microsoft.com/office/drawing/2014/main" id="{80E18379-B0F0-4071-FB44-D85B882F229F}"/>
              </a:ext>
            </a:extLst>
          </p:cNvPr>
          <p:cNvSpPr txBox="1"/>
          <p:nvPr/>
        </p:nvSpPr>
        <p:spPr>
          <a:xfrm>
            <a:off x="1804670" y="458470"/>
            <a:ext cx="698500" cy="3086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endParaRPr lang="en-US" sz="2000" noProof="1"/>
          </a:p>
        </p:txBody>
      </p:sp>
      <p:sp>
        <p:nvSpPr>
          <p:cNvPr id="13" name="hd-title">
            <a:extLst>
              <a:ext uri="{FF2B5EF4-FFF2-40B4-BE49-F238E27FC236}">
                <a16:creationId xmlns:a16="http://schemas.microsoft.com/office/drawing/2014/main" id="{29C9C004-9B2E-36DC-4F7B-C2A7FD4BEE81}"/>
              </a:ext>
            </a:extLst>
          </p:cNvPr>
          <p:cNvSpPr txBox="1"/>
          <p:nvPr/>
        </p:nvSpPr>
        <p:spPr>
          <a:xfrm>
            <a:off x="2301240" y="458470"/>
            <a:ext cx="9525000" cy="3086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endParaRPr lang="en-US" sz="2000" noProof="1"/>
          </a:p>
        </p:txBody>
      </p:sp>
      <p:sp>
        <p:nvSpPr>
          <p:cNvPr id="15" name="hd-div">
            <a:extLst>
              <a:ext uri="{FF2B5EF4-FFF2-40B4-BE49-F238E27FC236}">
                <a16:creationId xmlns:a16="http://schemas.microsoft.com/office/drawing/2014/main" id="{E08AD8E8-4E45-0868-5149-EE800C29212D}"/>
              </a:ext>
            </a:extLst>
          </p:cNvPr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eyJ2aWV3Qm94IjpbODEwLjYsMV0sInBvaW50cyI6IjAsMC41IDgxMC42LDAuNSIsImN1cnZlIjoic2hhcnAifQ</pptd:line>
              </p:ext>
            </p:extLst>
          </p:nvPr>
        </p:nvSpPr>
        <p:spPr>
          <a:xfrm>
            <a:off x="1625600" y="1121410"/>
            <a:ext cx="10294620" cy="12700"/>
          </a:xfrm>
          <a:custGeom>
            <a:avLst/>
            <a:gdLst/>
            <a:ahLst/>
            <a:cxnLst/>
            <a:rect l="l" t="t" r="r" b="b"/>
            <a:pathLst>
              <a:path w="811" h="1">
                <a:moveTo>
                  <a:pt x="0" y="1"/>
                </a:moveTo>
                <a:lnTo>
                  <a:pt x="811" y="1"/>
                </a:lnTo>
              </a:path>
            </a:pathLst>
          </a:custGeom>
          <a:noFill/>
          <a:ln w="12700">
            <a:solidFill>
              <a:srgbClr val="D9D9D9"/>
            </a:solidFill>
          </a:ln>
        </p:spPr>
      </p:sp>
      <p:sp>
        <p:nvSpPr>
          <p:cNvPr id="16" name="nav-hl">
            <a:extLst>
              <a:ext uri="{FF2B5EF4-FFF2-40B4-BE49-F238E27FC236}">
                <a16:creationId xmlns:a16="http://schemas.microsoft.com/office/drawing/2014/main" id="{2386AB3C-FDE0-1068-4882-6F05175A2FBC}"/>
              </a:ext>
            </a:extLst>
          </p:cNvPr>
          <p:cNvSpPr/>
          <p:nvPr/>
        </p:nvSpPr>
        <p:spPr>
          <a:xfrm>
            <a:off x="49530" y="3860800"/>
            <a:ext cx="1164590" cy="36449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8" name="nav-0">
            <a:extLst>
              <a:ext uri="{FF2B5EF4-FFF2-40B4-BE49-F238E27FC236}">
                <a16:creationId xmlns:a16="http://schemas.microsoft.com/office/drawing/2014/main" id="{DBF9C550-523D-4F7A-0EFF-C02AF4B222B2}"/>
              </a:ext>
            </a:extLst>
          </p:cNvPr>
          <p:cNvSpPr txBox="1"/>
          <p:nvPr/>
        </p:nvSpPr>
        <p:spPr>
          <a:xfrm>
            <a:off x="85090" y="1894840"/>
            <a:ext cx="981710" cy="3086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noProof="1">
                <a:solidFill>
                  <a:srgbClr val="808080"/>
                </a:solidFill>
                <a:latin typeface="阿里巴巴普惠体 R"/>
                <a:ea typeface="阿里巴巴普惠体 R"/>
              </a:rPr>
              <a:t>研究动机</a:t>
            </a:r>
            <a:endParaRPr lang="en-US" sz="1400" noProof="1"/>
          </a:p>
        </p:txBody>
      </p:sp>
      <p:sp>
        <p:nvSpPr>
          <p:cNvPr id="30" name="nav-1">
            <a:extLst>
              <a:ext uri="{FF2B5EF4-FFF2-40B4-BE49-F238E27FC236}">
                <a16:creationId xmlns:a16="http://schemas.microsoft.com/office/drawing/2014/main" id="{D6BF26FF-2D8B-1DD8-FFC6-EB36A3D71298}"/>
              </a:ext>
            </a:extLst>
          </p:cNvPr>
          <p:cNvSpPr txBox="1"/>
          <p:nvPr/>
        </p:nvSpPr>
        <p:spPr>
          <a:xfrm>
            <a:off x="85090" y="2550160"/>
            <a:ext cx="981710" cy="3086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zh-CN" altLang="en-US" sz="1400" noProof="1">
                <a:solidFill>
                  <a:srgbClr val="808080"/>
                </a:solidFill>
                <a:latin typeface="阿里巴巴普惠体 R"/>
              </a:rPr>
              <a:t>相关工作</a:t>
            </a:r>
            <a:endParaRPr lang="en-US" altLang="zh-CN" sz="1400" noProof="1"/>
          </a:p>
        </p:txBody>
      </p:sp>
      <p:sp>
        <p:nvSpPr>
          <p:cNvPr id="32" name="nav-2">
            <a:extLst>
              <a:ext uri="{FF2B5EF4-FFF2-40B4-BE49-F238E27FC236}">
                <a16:creationId xmlns:a16="http://schemas.microsoft.com/office/drawing/2014/main" id="{0306A088-6BEA-302D-9DDB-69F0470634C8}"/>
              </a:ext>
            </a:extLst>
          </p:cNvPr>
          <p:cNvSpPr txBox="1"/>
          <p:nvPr/>
        </p:nvSpPr>
        <p:spPr>
          <a:xfrm>
            <a:off x="85090" y="3205480"/>
            <a:ext cx="981710" cy="3086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zh-CN" altLang="en-US" sz="1400" noProof="1">
                <a:solidFill>
                  <a:srgbClr val="808080"/>
                </a:solidFill>
                <a:latin typeface="阿里巴巴普惠体 R"/>
              </a:rPr>
              <a:t>具体工作</a:t>
            </a:r>
            <a:endParaRPr lang="en-US" altLang="zh-CN" sz="1400" noProof="1">
              <a:solidFill>
                <a:srgbClr val="808080"/>
              </a:solidFill>
              <a:latin typeface="阿里巴巴普惠体 R"/>
            </a:endParaRPr>
          </a:p>
        </p:txBody>
      </p:sp>
      <p:sp>
        <p:nvSpPr>
          <p:cNvPr id="34" name="nav-3">
            <a:extLst>
              <a:ext uri="{FF2B5EF4-FFF2-40B4-BE49-F238E27FC236}">
                <a16:creationId xmlns:a16="http://schemas.microsoft.com/office/drawing/2014/main" id="{64CDAA1A-8FA5-250A-69C8-3F4B1567E290}"/>
              </a:ext>
            </a:extLst>
          </p:cNvPr>
          <p:cNvSpPr txBox="1"/>
          <p:nvPr/>
        </p:nvSpPr>
        <p:spPr>
          <a:xfrm>
            <a:off x="85090" y="3862070"/>
            <a:ext cx="981710" cy="3086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noProof="1">
                <a:latin typeface="阿里巴巴普惠体 R"/>
                <a:ea typeface="阿里巴巴普惠体 R"/>
              </a:rPr>
              <a:t>研究计划</a:t>
            </a:r>
            <a:endParaRPr lang="en-US" sz="1400" noProof="1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8D5F1A5-77D0-E557-A0E6-44D237D885CF}"/>
              </a:ext>
            </a:extLst>
          </p:cNvPr>
          <p:cNvSpPr txBox="1"/>
          <p:nvPr/>
        </p:nvSpPr>
        <p:spPr>
          <a:xfrm>
            <a:off x="2003464" y="1550193"/>
            <a:ext cx="831720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已完成工作： ✅️</a:t>
            </a: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zh-CN" sz="2400" dirty="0"/>
              <a:t>MATH-500和NL2Bash两类任务</a:t>
            </a:r>
            <a:r>
              <a:rPr lang="zh-CN" altLang="en-US" sz="2400" dirty="0"/>
              <a:t>，</a:t>
            </a:r>
            <a:r>
              <a:rPr lang="zh-CN" altLang="zh-CN" sz="2400" dirty="0"/>
              <a:t>调用Qwen2.5-7B</a:t>
            </a:r>
            <a:r>
              <a:rPr lang="zh-CN" altLang="en-US" sz="2400" dirty="0"/>
              <a:t>通用小模型</a:t>
            </a:r>
            <a:r>
              <a:rPr lang="zh-CN" altLang="zh-CN" sz="2400" dirty="0"/>
              <a:t>与DeepSeek</a:t>
            </a:r>
            <a:r>
              <a:rPr lang="zh-CN" altLang="en-US" sz="2400" dirty="0"/>
              <a:t>大模型</a:t>
            </a: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通过模型中间生成表示，判断子任务的完成情况</a:t>
            </a: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整题的大小模型路由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C7ECB2B-78F0-BD40-FCA0-3F17452FF121}"/>
              </a:ext>
            </a:extLst>
          </p:cNvPr>
          <p:cNvSpPr txBox="1"/>
          <p:nvPr/>
        </p:nvSpPr>
        <p:spPr>
          <a:xfrm>
            <a:off x="2023533" y="4021824"/>
            <a:ext cx="549723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尚未建立：❌️</a:t>
            </a: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子任务依赖图</a:t>
            </a: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子任务级复杂度判断</a:t>
            </a: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负载感知拆解</a:t>
            </a: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逐节点模型路由</a:t>
            </a:r>
          </a:p>
        </p:txBody>
      </p:sp>
    </p:spTree>
    <p:extLst>
      <p:ext uri="{BB962C8B-B14F-4D97-AF65-F5344CB8AC3E}">
        <p14:creationId xmlns:p14="http://schemas.microsoft.com/office/powerpoint/2010/main" val="35190375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strip"/>
          <p:cNvSpPr/>
          <p:nvPr/>
        </p:nvSpPr>
        <p:spPr>
          <a:xfrm>
            <a:off x="0" y="-11430"/>
            <a:ext cx="12192000" cy="175260"/>
          </a:xfrm>
          <a:prstGeom prst="rect">
            <a:avLst/>
          </a:prstGeom>
          <a:solidFill>
            <a:srgbClr val="122E66"/>
          </a:solidFill>
          <a:ln>
            <a:noFill/>
          </a:ln>
        </p:spPr>
      </p:sp>
      <p:sp>
        <p:nvSpPr>
          <p:cNvPr id="3" name="nav-panel"/>
          <p:cNvSpPr/>
          <p:nvPr/>
        </p:nvSpPr>
        <p:spPr>
          <a:xfrm>
            <a:off x="0" y="163830"/>
            <a:ext cx="1164590" cy="66865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" name="logo"/>
          <p:cNvSpPr/>
          <p:nvPr/>
        </p:nvSpPr>
        <p:spPr>
          <a:xfrm>
            <a:off x="49530" y="257810"/>
            <a:ext cx="1047750" cy="815340"/>
          </a:xfrm>
          <a:custGeom>
            <a:avLst/>
            <a:gdLst/>
            <a:ahLst/>
            <a:cxnLst/>
            <a:rect l="l" t="t" r="r" b="b"/>
            <a:pathLst>
              <a:path w="2036266" h="1623111">
                <a:moveTo>
                  <a:pt x="0" y="0"/>
                </a:moveTo>
                <a:lnTo>
                  <a:pt x="2036266" y="0"/>
                </a:lnTo>
                <a:lnTo>
                  <a:pt x="2036266" y="1623111"/>
                </a:lnTo>
                <a:lnTo>
                  <a:pt x="0" y="16231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11" name="hd-line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eyJ2aWV3Qm94IjpbMSwyNy4yXSwicG9pbnRzIjoiMC41LDAgMC41LDI3LjIiLCJjdXJ2ZSI6InNoYXJwIn0</pptd:line>
              </p:ext>
            </p:extLst>
          </p:nvPr>
        </p:nvSpPr>
        <p:spPr>
          <a:xfrm>
            <a:off x="1625600" y="431800"/>
            <a:ext cx="12700" cy="345440"/>
          </a:xfrm>
          <a:custGeom>
            <a:avLst/>
            <a:gdLst/>
            <a:ahLst/>
            <a:cxnLst/>
            <a:rect l="l" t="t" r="r" b="b"/>
            <a:pathLst>
              <a:path w="1" h="27">
                <a:moveTo>
                  <a:pt x="1" y="0"/>
                </a:moveTo>
                <a:lnTo>
                  <a:pt x="1" y="27"/>
                </a:lnTo>
              </a:path>
            </a:pathLst>
          </a:custGeom>
          <a:noFill/>
          <a:ln w="92075">
            <a:solidFill>
              <a:srgbClr val="122E66"/>
            </a:solidFill>
          </a:ln>
        </p:spPr>
      </p:sp>
      <p:sp>
        <p:nvSpPr>
          <p:cNvPr id="12" name="hd-num"/>
          <p:cNvSpPr txBox="1"/>
          <p:nvPr/>
        </p:nvSpPr>
        <p:spPr>
          <a:xfrm>
            <a:off x="1804670" y="458470"/>
            <a:ext cx="698500" cy="3086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endParaRPr lang="en-US" sz="2000" noProof="1"/>
          </a:p>
        </p:txBody>
      </p:sp>
      <p:sp>
        <p:nvSpPr>
          <p:cNvPr id="13" name="hd-title"/>
          <p:cNvSpPr txBox="1"/>
          <p:nvPr/>
        </p:nvSpPr>
        <p:spPr>
          <a:xfrm>
            <a:off x="2301240" y="458470"/>
            <a:ext cx="9525000" cy="3086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endParaRPr lang="en-US" sz="2000" noProof="1"/>
          </a:p>
        </p:txBody>
      </p:sp>
      <p:sp>
        <p:nvSpPr>
          <p:cNvPr id="15" name="hd-div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eyJ2aWV3Qm94IjpbODEwLjYsMV0sInBvaW50cyI6IjAsMC41IDgxMC42LDAuNSIsImN1cnZlIjoic2hhcnAifQ</pptd:line>
              </p:ext>
            </p:extLst>
          </p:nvPr>
        </p:nvSpPr>
        <p:spPr>
          <a:xfrm>
            <a:off x="1625600" y="1121410"/>
            <a:ext cx="10294620" cy="12700"/>
          </a:xfrm>
          <a:custGeom>
            <a:avLst/>
            <a:gdLst/>
            <a:ahLst/>
            <a:cxnLst/>
            <a:rect l="l" t="t" r="r" b="b"/>
            <a:pathLst>
              <a:path w="811" h="1">
                <a:moveTo>
                  <a:pt x="0" y="1"/>
                </a:moveTo>
                <a:lnTo>
                  <a:pt x="811" y="1"/>
                </a:lnTo>
              </a:path>
            </a:pathLst>
          </a:custGeom>
          <a:noFill/>
          <a:ln w="12700">
            <a:solidFill>
              <a:srgbClr val="D9D9D9"/>
            </a:solidFill>
          </a:ln>
        </p:spPr>
      </p:sp>
      <p:sp>
        <p:nvSpPr>
          <p:cNvPr id="18" name="p14-bg1"/>
          <p:cNvSpPr/>
          <p:nvPr/>
        </p:nvSpPr>
        <p:spPr>
          <a:xfrm>
            <a:off x="3619500" y="1521460"/>
            <a:ext cx="4953000" cy="381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19" name="p14-hd1"/>
          <p:cNvSpPr/>
          <p:nvPr/>
        </p:nvSpPr>
        <p:spPr>
          <a:xfrm>
            <a:off x="3619500" y="1521460"/>
            <a:ext cx="4953000" cy="508000"/>
          </a:xfrm>
          <a:prstGeom prst="rect">
            <a:avLst/>
          </a:prstGeom>
          <a:solidFill>
            <a:srgbClr val="122E66"/>
          </a:solidFill>
          <a:ln>
            <a:noFill/>
          </a:ln>
        </p:spPr>
      </p:sp>
      <p:sp>
        <p:nvSpPr>
          <p:cNvPr id="20" name="p14-ht1"/>
          <p:cNvSpPr txBox="1"/>
          <p:nvPr/>
        </p:nvSpPr>
        <p:spPr>
          <a:xfrm>
            <a:off x="3619500" y="1635760"/>
            <a:ext cx="4953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500" b="1" noProof="1">
                <a:solidFill>
                  <a:srgbClr val="FFFFFF"/>
                </a:solidFill>
                <a:latin typeface="OPPOSans B"/>
                <a:ea typeface="OPPOSans B"/>
              </a:rPr>
              <a:t>本阶段核心</a:t>
            </a:r>
            <a:endParaRPr lang="en-US" sz="1500" noProof="1"/>
          </a:p>
        </p:txBody>
      </p:sp>
      <p:sp>
        <p:nvSpPr>
          <p:cNvPr id="21" name="p14-bd1"/>
          <p:cNvSpPr txBox="1"/>
          <p:nvPr/>
        </p:nvSpPr>
        <p:spPr>
          <a:xfrm>
            <a:off x="3924300" y="2232660"/>
            <a:ext cx="436880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90000"/>
              </a:lnSpc>
              <a:spcBef>
                <a:spcPts val="10"/>
              </a:spcBef>
              <a:buChar char="•"/>
            </a:pPr>
            <a:r>
              <a:rPr lang="en-US" sz="2000" noProof="1">
                <a:solidFill>
                  <a:srgbClr val="262626"/>
                </a:solidFill>
                <a:latin typeface="阿里巴巴普惠体 R"/>
                <a:ea typeface="阿里巴巴普惠体 R"/>
              </a:rPr>
              <a:t>开放式问题的</a:t>
            </a:r>
            <a:r>
              <a:rPr lang="en-US" sz="2000" b="1" noProof="1">
                <a:solidFill>
                  <a:srgbClr val="262626"/>
                </a:solidFill>
                <a:latin typeface="阿里巴巴普惠体 R"/>
                <a:ea typeface="阿里巴巴普惠体 R"/>
              </a:rPr>
              <a:t>类型感知拆解</a:t>
            </a:r>
            <a:endParaRPr lang="en-US" sz="2000" noProof="1"/>
          </a:p>
          <a:p>
            <a:pPr>
              <a:lnSpc>
                <a:spcPct val="190000"/>
              </a:lnSpc>
              <a:spcBef>
                <a:spcPts val="10"/>
              </a:spcBef>
              <a:buChar char="•"/>
            </a:pPr>
            <a:r>
              <a:rPr lang="en-US" sz="2000" b="1" noProof="1">
                <a:solidFill>
                  <a:srgbClr val="262626"/>
                </a:solidFill>
                <a:latin typeface="阿里巴巴普惠体 R"/>
                <a:ea typeface="阿里巴巴普惠体 R"/>
              </a:rPr>
              <a:t>节点级</a:t>
            </a:r>
            <a:r>
              <a:rPr lang="en-US" sz="2000" noProof="1">
                <a:solidFill>
                  <a:srgbClr val="262626"/>
                </a:solidFill>
                <a:latin typeface="阿里巴巴普惠体 R"/>
                <a:ea typeface="阿里巴巴普惠体 R"/>
              </a:rPr>
              <a:t>大小模型路由</a:t>
            </a:r>
            <a:endParaRPr lang="en-US" sz="2000" noProof="1"/>
          </a:p>
          <a:p>
            <a:pPr>
              <a:lnSpc>
                <a:spcPct val="190000"/>
              </a:lnSpc>
              <a:spcBef>
                <a:spcPts val="10"/>
              </a:spcBef>
              <a:buChar char="•"/>
            </a:pPr>
            <a:r>
              <a:rPr lang="en-US" sz="2000" noProof="1">
                <a:solidFill>
                  <a:srgbClr val="262626"/>
                </a:solidFill>
                <a:latin typeface="阿里巴巴普惠体 R"/>
                <a:ea typeface="阿里巴巴普惠体 R"/>
              </a:rPr>
              <a:t>端到端</a:t>
            </a:r>
            <a:r>
              <a:rPr lang="en-US" sz="2000" b="1" noProof="1">
                <a:solidFill>
                  <a:srgbClr val="262626"/>
                </a:solidFill>
                <a:latin typeface="阿里巴巴普惠体 R"/>
                <a:ea typeface="阿里巴巴普惠体 R"/>
              </a:rPr>
              <a:t>成本、质量和延迟</a:t>
            </a:r>
            <a:r>
              <a:rPr lang="en-US" sz="2000" noProof="1">
                <a:solidFill>
                  <a:srgbClr val="262626"/>
                </a:solidFill>
                <a:latin typeface="阿里巴巴普惠体 R"/>
                <a:ea typeface="阿里巴巴普惠体 R"/>
              </a:rPr>
              <a:t>核算</a:t>
            </a:r>
            <a:endParaRPr lang="en-US" sz="2000" noProof="1"/>
          </a:p>
        </p:txBody>
      </p:sp>
      <p:sp>
        <p:nvSpPr>
          <p:cNvPr id="16" name="nav-hl">
            <a:extLst>
              <a:ext uri="{FF2B5EF4-FFF2-40B4-BE49-F238E27FC236}">
                <a16:creationId xmlns:a16="http://schemas.microsoft.com/office/drawing/2014/main" id="{CE4147C6-2A0C-FB65-24A5-18529D2AF68B}"/>
              </a:ext>
            </a:extLst>
          </p:cNvPr>
          <p:cNvSpPr/>
          <p:nvPr/>
        </p:nvSpPr>
        <p:spPr>
          <a:xfrm>
            <a:off x="49530" y="3860800"/>
            <a:ext cx="1164590" cy="36449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8" name="nav-0">
            <a:extLst>
              <a:ext uri="{FF2B5EF4-FFF2-40B4-BE49-F238E27FC236}">
                <a16:creationId xmlns:a16="http://schemas.microsoft.com/office/drawing/2014/main" id="{FD0445D9-C09D-7546-F911-B2BC577200A2}"/>
              </a:ext>
            </a:extLst>
          </p:cNvPr>
          <p:cNvSpPr txBox="1"/>
          <p:nvPr/>
        </p:nvSpPr>
        <p:spPr>
          <a:xfrm>
            <a:off x="85090" y="1894840"/>
            <a:ext cx="981710" cy="3086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noProof="1">
                <a:solidFill>
                  <a:srgbClr val="808080"/>
                </a:solidFill>
                <a:latin typeface="阿里巴巴普惠体 R"/>
                <a:ea typeface="阿里巴巴普惠体 R"/>
              </a:rPr>
              <a:t>研究动机</a:t>
            </a:r>
            <a:endParaRPr lang="en-US" sz="1400" noProof="1"/>
          </a:p>
        </p:txBody>
      </p:sp>
      <p:sp>
        <p:nvSpPr>
          <p:cNvPr id="30" name="nav-1">
            <a:extLst>
              <a:ext uri="{FF2B5EF4-FFF2-40B4-BE49-F238E27FC236}">
                <a16:creationId xmlns:a16="http://schemas.microsoft.com/office/drawing/2014/main" id="{5336ACEC-98F7-E182-58CC-294DD6E2B5E2}"/>
              </a:ext>
            </a:extLst>
          </p:cNvPr>
          <p:cNvSpPr txBox="1"/>
          <p:nvPr/>
        </p:nvSpPr>
        <p:spPr>
          <a:xfrm>
            <a:off x="85090" y="2550160"/>
            <a:ext cx="981710" cy="3086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zh-CN" altLang="en-US" sz="1400" noProof="1">
                <a:solidFill>
                  <a:srgbClr val="808080"/>
                </a:solidFill>
                <a:latin typeface="阿里巴巴普惠体 R"/>
              </a:rPr>
              <a:t>相关工作</a:t>
            </a:r>
            <a:endParaRPr lang="en-US" altLang="zh-CN" sz="1400" noProof="1"/>
          </a:p>
        </p:txBody>
      </p:sp>
      <p:sp>
        <p:nvSpPr>
          <p:cNvPr id="32" name="nav-2">
            <a:extLst>
              <a:ext uri="{FF2B5EF4-FFF2-40B4-BE49-F238E27FC236}">
                <a16:creationId xmlns:a16="http://schemas.microsoft.com/office/drawing/2014/main" id="{031A4606-D872-9D3D-FEFF-F199BA0C3E0D}"/>
              </a:ext>
            </a:extLst>
          </p:cNvPr>
          <p:cNvSpPr txBox="1"/>
          <p:nvPr/>
        </p:nvSpPr>
        <p:spPr>
          <a:xfrm>
            <a:off x="85090" y="3205480"/>
            <a:ext cx="981710" cy="3086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zh-CN" altLang="en-US" sz="1400" noProof="1">
                <a:solidFill>
                  <a:srgbClr val="808080"/>
                </a:solidFill>
                <a:latin typeface="阿里巴巴普惠体 R"/>
              </a:rPr>
              <a:t>具体工作</a:t>
            </a:r>
            <a:endParaRPr lang="en-US" altLang="zh-CN" sz="1400" noProof="1">
              <a:solidFill>
                <a:srgbClr val="808080"/>
              </a:solidFill>
              <a:latin typeface="阿里巴巴普惠体 R"/>
            </a:endParaRPr>
          </a:p>
        </p:txBody>
      </p:sp>
      <p:sp>
        <p:nvSpPr>
          <p:cNvPr id="34" name="nav-3">
            <a:extLst>
              <a:ext uri="{FF2B5EF4-FFF2-40B4-BE49-F238E27FC236}">
                <a16:creationId xmlns:a16="http://schemas.microsoft.com/office/drawing/2014/main" id="{EE8A2F7C-0BB5-DFF9-184C-207D8DF08ECB}"/>
              </a:ext>
            </a:extLst>
          </p:cNvPr>
          <p:cNvSpPr txBox="1"/>
          <p:nvPr/>
        </p:nvSpPr>
        <p:spPr>
          <a:xfrm>
            <a:off x="85090" y="3862070"/>
            <a:ext cx="981710" cy="3086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noProof="1">
                <a:latin typeface="阿里巴巴普惠体 R"/>
                <a:ea typeface="阿里巴巴普惠体 R"/>
              </a:rPr>
              <a:t>研究计划</a:t>
            </a:r>
            <a:endParaRPr lang="en-US" sz="14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strip"/>
          <p:cNvSpPr/>
          <p:nvPr/>
        </p:nvSpPr>
        <p:spPr>
          <a:xfrm>
            <a:off x="0" y="-11430"/>
            <a:ext cx="12192000" cy="175260"/>
          </a:xfrm>
          <a:prstGeom prst="rect">
            <a:avLst/>
          </a:prstGeom>
          <a:solidFill>
            <a:srgbClr val="122E66"/>
          </a:solidFill>
          <a:ln>
            <a:noFill/>
          </a:ln>
        </p:spPr>
      </p:sp>
      <p:sp>
        <p:nvSpPr>
          <p:cNvPr id="3" name="nav-panel"/>
          <p:cNvSpPr/>
          <p:nvPr/>
        </p:nvSpPr>
        <p:spPr>
          <a:xfrm>
            <a:off x="0" y="163830"/>
            <a:ext cx="1164590" cy="66865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6" name="nav-hl">
            <a:extLst>
              <a:ext uri="{FF2B5EF4-FFF2-40B4-BE49-F238E27FC236}">
                <a16:creationId xmlns:a16="http://schemas.microsoft.com/office/drawing/2014/main" id="{32252C97-5467-AE08-49F7-29F3C91DAD8B}"/>
              </a:ext>
            </a:extLst>
          </p:cNvPr>
          <p:cNvSpPr/>
          <p:nvPr/>
        </p:nvSpPr>
        <p:spPr>
          <a:xfrm>
            <a:off x="49530" y="3860800"/>
            <a:ext cx="1164590" cy="36449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10" name="logo"/>
          <p:cNvSpPr/>
          <p:nvPr/>
        </p:nvSpPr>
        <p:spPr>
          <a:xfrm>
            <a:off x="49530" y="257810"/>
            <a:ext cx="1047750" cy="815340"/>
          </a:xfrm>
          <a:custGeom>
            <a:avLst/>
            <a:gdLst/>
            <a:ahLst/>
            <a:cxnLst/>
            <a:rect l="l" t="t" r="r" b="b"/>
            <a:pathLst>
              <a:path w="2036266" h="1623111">
                <a:moveTo>
                  <a:pt x="0" y="0"/>
                </a:moveTo>
                <a:lnTo>
                  <a:pt x="2036266" y="0"/>
                </a:lnTo>
                <a:lnTo>
                  <a:pt x="2036266" y="1623111"/>
                </a:lnTo>
                <a:lnTo>
                  <a:pt x="0" y="16231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11" name="hd-line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eyJ2aWV3Qm94IjpbMSwyNy4yXSwicG9pbnRzIjoiMC41LDAgMC41LDI3LjIiLCJjdXJ2ZSI6InNoYXJwIn0</pptd:line>
              </p:ext>
            </p:extLst>
          </p:nvPr>
        </p:nvSpPr>
        <p:spPr>
          <a:xfrm>
            <a:off x="1625600" y="431800"/>
            <a:ext cx="12700" cy="345440"/>
          </a:xfrm>
          <a:custGeom>
            <a:avLst/>
            <a:gdLst/>
            <a:ahLst/>
            <a:cxnLst/>
            <a:rect l="l" t="t" r="r" b="b"/>
            <a:pathLst>
              <a:path w="1" h="27">
                <a:moveTo>
                  <a:pt x="1" y="0"/>
                </a:moveTo>
                <a:lnTo>
                  <a:pt x="1" y="27"/>
                </a:lnTo>
              </a:path>
            </a:pathLst>
          </a:custGeom>
          <a:noFill/>
          <a:ln w="92075">
            <a:solidFill>
              <a:srgbClr val="122E66"/>
            </a:solidFill>
          </a:ln>
        </p:spPr>
      </p:sp>
      <p:sp>
        <p:nvSpPr>
          <p:cNvPr id="12" name="hd-num"/>
          <p:cNvSpPr txBox="1"/>
          <p:nvPr/>
        </p:nvSpPr>
        <p:spPr>
          <a:xfrm>
            <a:off x="1804670" y="458470"/>
            <a:ext cx="698500" cy="3086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endParaRPr lang="en-US" sz="2000" noProof="1"/>
          </a:p>
        </p:txBody>
      </p:sp>
      <p:sp>
        <p:nvSpPr>
          <p:cNvPr id="13" name="hd-title"/>
          <p:cNvSpPr txBox="1"/>
          <p:nvPr/>
        </p:nvSpPr>
        <p:spPr>
          <a:xfrm>
            <a:off x="2301240" y="458470"/>
            <a:ext cx="9525000" cy="3086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endParaRPr lang="en-US" sz="2000" noProof="1"/>
          </a:p>
        </p:txBody>
      </p:sp>
      <p:sp>
        <p:nvSpPr>
          <p:cNvPr id="15" name="hd-div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eyJ2aWV3Qm94IjpbODEwLjYsMV0sInBvaW50cyI6IjAsMC41IDgxMC42LDAuNSIsImN1cnZlIjoic2hhcnAifQ</pptd:line>
              </p:ext>
            </p:extLst>
          </p:nvPr>
        </p:nvSpPr>
        <p:spPr>
          <a:xfrm>
            <a:off x="1625600" y="1121410"/>
            <a:ext cx="10294620" cy="12700"/>
          </a:xfrm>
          <a:custGeom>
            <a:avLst/>
            <a:gdLst/>
            <a:ahLst/>
            <a:cxnLst/>
            <a:rect l="l" t="t" r="r" b="b"/>
            <a:pathLst>
              <a:path w="811" h="1">
                <a:moveTo>
                  <a:pt x="0" y="1"/>
                </a:moveTo>
                <a:lnTo>
                  <a:pt x="811" y="1"/>
                </a:lnTo>
              </a:path>
            </a:pathLst>
          </a:custGeom>
          <a:noFill/>
          <a:ln w="12700">
            <a:solidFill>
              <a:srgbClr val="D9D9D9"/>
            </a:solidFill>
          </a:ln>
        </p:spPr>
      </p:sp>
      <p:sp>
        <p:nvSpPr>
          <p:cNvPr id="18" name="p15-bg1"/>
          <p:cNvSpPr/>
          <p:nvPr/>
        </p:nvSpPr>
        <p:spPr>
          <a:xfrm>
            <a:off x="1625600" y="1371600"/>
            <a:ext cx="4826000" cy="419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19" name="p15-hd1"/>
          <p:cNvSpPr/>
          <p:nvPr/>
        </p:nvSpPr>
        <p:spPr>
          <a:xfrm>
            <a:off x="1625600" y="1371600"/>
            <a:ext cx="4826000" cy="482600"/>
          </a:xfrm>
          <a:prstGeom prst="rect">
            <a:avLst/>
          </a:prstGeom>
          <a:solidFill>
            <a:srgbClr val="122E66"/>
          </a:solidFill>
          <a:ln>
            <a:noFill/>
          </a:ln>
        </p:spPr>
      </p:sp>
      <p:sp>
        <p:nvSpPr>
          <p:cNvPr id="20" name="p15-ht1"/>
          <p:cNvSpPr txBox="1"/>
          <p:nvPr/>
        </p:nvSpPr>
        <p:spPr>
          <a:xfrm>
            <a:off x="1625600" y="14859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b="1" noProof="1">
                <a:solidFill>
                  <a:srgbClr val="FFFFFF"/>
                </a:solidFill>
                <a:latin typeface="OPPOSans B"/>
                <a:ea typeface="OPPOSans B"/>
              </a:rPr>
              <a:t>主要比较对象</a:t>
            </a:r>
            <a:endParaRPr lang="en-US" noProof="1"/>
          </a:p>
        </p:txBody>
      </p:sp>
      <p:sp>
        <p:nvSpPr>
          <p:cNvPr id="21" name="p15-bd1"/>
          <p:cNvSpPr txBox="1"/>
          <p:nvPr/>
        </p:nvSpPr>
        <p:spPr>
          <a:xfrm>
            <a:off x="1905000" y="2032000"/>
            <a:ext cx="4318000" cy="340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85000"/>
              </a:lnSpc>
              <a:spcBef>
                <a:spcPts val="10"/>
              </a:spcBef>
              <a:buAutoNum type="arabicPeriod"/>
            </a:pPr>
            <a:r>
              <a:rPr lang="en-US" noProof="1">
                <a:solidFill>
                  <a:srgbClr val="262626"/>
                </a:solidFill>
                <a:latin typeface="阿里巴巴普惠体 R"/>
                <a:ea typeface="阿里巴巴普惠体 R"/>
              </a:rPr>
              <a:t>全部使用大模型</a:t>
            </a:r>
            <a:endParaRPr lang="en-US" noProof="1"/>
          </a:p>
          <a:p>
            <a:pPr>
              <a:lnSpc>
                <a:spcPct val="185000"/>
              </a:lnSpc>
              <a:spcBef>
                <a:spcPts val="10"/>
              </a:spcBef>
              <a:buAutoNum type="arabicPeriod"/>
            </a:pPr>
            <a:r>
              <a:rPr lang="en-US" noProof="1">
                <a:solidFill>
                  <a:srgbClr val="262626"/>
                </a:solidFill>
                <a:latin typeface="阿里巴巴普惠体 R"/>
                <a:ea typeface="阿里巴巴普惠体 R"/>
              </a:rPr>
              <a:t>全部使用小模型</a:t>
            </a:r>
            <a:endParaRPr lang="en-US" noProof="1"/>
          </a:p>
          <a:p>
            <a:pPr>
              <a:lnSpc>
                <a:spcPct val="185000"/>
              </a:lnSpc>
              <a:spcBef>
                <a:spcPts val="10"/>
              </a:spcBef>
              <a:buAutoNum type="arabicPeriod"/>
            </a:pPr>
            <a:r>
              <a:rPr lang="en-US" noProof="1">
                <a:solidFill>
                  <a:srgbClr val="262626"/>
                </a:solidFill>
                <a:latin typeface="阿里巴巴普惠体 R"/>
                <a:ea typeface="阿里巴巴普惠体 R"/>
              </a:rPr>
              <a:t>整题模型路由</a:t>
            </a:r>
            <a:endParaRPr lang="en-US" noProof="1"/>
          </a:p>
          <a:p>
            <a:pPr>
              <a:lnSpc>
                <a:spcPct val="185000"/>
              </a:lnSpc>
              <a:spcBef>
                <a:spcPts val="10"/>
              </a:spcBef>
              <a:buAutoNum type="arabicPeriod"/>
            </a:pPr>
            <a:r>
              <a:rPr lang="zh-CN" altLang="en-US" b="1" noProof="1">
                <a:solidFill>
                  <a:srgbClr val="262626"/>
                </a:solidFill>
                <a:latin typeface="阿里巴巴普惠体 R"/>
                <a:ea typeface="阿里巴巴普惠体 R"/>
              </a:rPr>
              <a:t>子任务</a:t>
            </a:r>
            <a:r>
              <a:rPr lang="en-US" b="1" noProof="1">
                <a:solidFill>
                  <a:srgbClr val="262626"/>
                </a:solidFill>
                <a:latin typeface="阿里巴巴普惠体 R"/>
                <a:ea typeface="阿里巴巴普惠体 R"/>
              </a:rPr>
              <a:t>拆解与节点级路由</a:t>
            </a:r>
            <a:endParaRPr lang="en-US" noProof="1"/>
          </a:p>
        </p:txBody>
      </p:sp>
      <p:sp>
        <p:nvSpPr>
          <p:cNvPr id="22" name="p15-bg2"/>
          <p:cNvSpPr/>
          <p:nvPr/>
        </p:nvSpPr>
        <p:spPr>
          <a:xfrm>
            <a:off x="6756400" y="1371600"/>
            <a:ext cx="5080000" cy="419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23" name="p15-hd2"/>
          <p:cNvSpPr/>
          <p:nvPr/>
        </p:nvSpPr>
        <p:spPr>
          <a:xfrm>
            <a:off x="6756400" y="1371600"/>
            <a:ext cx="5080000" cy="482600"/>
          </a:xfrm>
          <a:prstGeom prst="rect">
            <a:avLst/>
          </a:prstGeom>
          <a:solidFill>
            <a:srgbClr val="2673B7"/>
          </a:solidFill>
          <a:ln>
            <a:noFill/>
          </a:ln>
        </p:spPr>
      </p:sp>
      <p:sp>
        <p:nvSpPr>
          <p:cNvPr id="24" name="p15-ht2"/>
          <p:cNvSpPr txBox="1"/>
          <p:nvPr/>
        </p:nvSpPr>
        <p:spPr>
          <a:xfrm>
            <a:off x="6756400" y="14859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b="1" noProof="1">
                <a:solidFill>
                  <a:srgbClr val="FFFFFF"/>
                </a:solidFill>
                <a:latin typeface="OPPOSans B"/>
                <a:ea typeface="OPPOSans B"/>
              </a:rPr>
              <a:t>实验</a:t>
            </a:r>
            <a:r>
              <a:rPr lang="zh-CN" altLang="en-US" b="1" noProof="1">
                <a:solidFill>
                  <a:srgbClr val="FFFFFF"/>
                </a:solidFill>
                <a:latin typeface="OPPOSans B"/>
                <a:ea typeface="OPPOSans B"/>
              </a:rPr>
              <a:t>考虑的指标</a:t>
            </a:r>
            <a:endParaRPr lang="en-US" noProof="1"/>
          </a:p>
        </p:txBody>
      </p:sp>
      <p:sp>
        <p:nvSpPr>
          <p:cNvPr id="25" name="p15-bd2"/>
          <p:cNvSpPr txBox="1"/>
          <p:nvPr/>
        </p:nvSpPr>
        <p:spPr>
          <a:xfrm>
            <a:off x="7035800" y="2006600"/>
            <a:ext cx="4572000" cy="345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  <a:spcBef>
                <a:spcPts val="10"/>
              </a:spcBef>
              <a:buChar char="•"/>
            </a:pPr>
            <a:r>
              <a:rPr lang="zh-CN" altLang="en-US" noProof="1"/>
              <a:t>拆解任务的</a:t>
            </a:r>
            <a:r>
              <a:rPr lang="zh-CN" altLang="en-US" sz="2400" b="1" noProof="1"/>
              <a:t>延迟</a:t>
            </a:r>
            <a:endParaRPr lang="en-US" altLang="zh-CN" noProof="1"/>
          </a:p>
          <a:p>
            <a:pPr>
              <a:lnSpc>
                <a:spcPct val="160000"/>
              </a:lnSpc>
              <a:spcBef>
                <a:spcPts val="10"/>
              </a:spcBef>
              <a:buChar char="•"/>
            </a:pPr>
            <a:r>
              <a:rPr lang="zh-CN" altLang="en-US" noProof="1"/>
              <a:t>模型生成</a:t>
            </a:r>
            <a:r>
              <a:rPr lang="zh-CN" altLang="en-US" sz="2400" b="1" noProof="1"/>
              <a:t>质量</a:t>
            </a:r>
            <a:r>
              <a:rPr lang="zh-CN" altLang="en-US" noProof="1"/>
              <a:t>的变化</a:t>
            </a:r>
            <a:endParaRPr lang="en-US" altLang="zh-CN" noProof="1"/>
          </a:p>
          <a:p>
            <a:pPr>
              <a:lnSpc>
                <a:spcPct val="160000"/>
              </a:lnSpc>
              <a:spcBef>
                <a:spcPts val="10"/>
              </a:spcBef>
              <a:buChar char="•"/>
            </a:pPr>
            <a:r>
              <a:rPr lang="zh-CN" altLang="en-US" noProof="1"/>
              <a:t>系统负载的</a:t>
            </a:r>
            <a:r>
              <a:rPr lang="zh-CN" altLang="en-US" sz="2400" b="1" noProof="1"/>
              <a:t>服务成本</a:t>
            </a:r>
            <a:endParaRPr lang="en-US" b="1" noProof="1"/>
          </a:p>
        </p:txBody>
      </p:sp>
      <p:sp>
        <p:nvSpPr>
          <p:cNvPr id="16" name="nav-0">
            <a:extLst>
              <a:ext uri="{FF2B5EF4-FFF2-40B4-BE49-F238E27FC236}">
                <a16:creationId xmlns:a16="http://schemas.microsoft.com/office/drawing/2014/main" id="{58A1205E-BBD5-8E6B-D27C-EFE95B7BDF85}"/>
              </a:ext>
            </a:extLst>
          </p:cNvPr>
          <p:cNvSpPr txBox="1"/>
          <p:nvPr/>
        </p:nvSpPr>
        <p:spPr>
          <a:xfrm>
            <a:off x="85090" y="1894840"/>
            <a:ext cx="981710" cy="3086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noProof="1">
                <a:solidFill>
                  <a:srgbClr val="808080"/>
                </a:solidFill>
                <a:latin typeface="阿里巴巴普惠体 R"/>
                <a:ea typeface="阿里巴巴普惠体 R"/>
              </a:rPr>
              <a:t>研究动机</a:t>
            </a:r>
            <a:endParaRPr lang="en-US" sz="1400" noProof="1"/>
          </a:p>
        </p:txBody>
      </p:sp>
      <p:sp>
        <p:nvSpPr>
          <p:cNvPr id="26" name="nav-1">
            <a:extLst>
              <a:ext uri="{FF2B5EF4-FFF2-40B4-BE49-F238E27FC236}">
                <a16:creationId xmlns:a16="http://schemas.microsoft.com/office/drawing/2014/main" id="{5BF1BCE7-7CA6-1EF8-792C-1F989D001136}"/>
              </a:ext>
            </a:extLst>
          </p:cNvPr>
          <p:cNvSpPr txBox="1"/>
          <p:nvPr/>
        </p:nvSpPr>
        <p:spPr>
          <a:xfrm>
            <a:off x="85090" y="2550160"/>
            <a:ext cx="981710" cy="3086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zh-CN" altLang="en-US" sz="1400" noProof="1">
                <a:solidFill>
                  <a:srgbClr val="808080"/>
                </a:solidFill>
                <a:latin typeface="阿里巴巴普惠体 R"/>
              </a:rPr>
              <a:t>相关工作</a:t>
            </a:r>
            <a:endParaRPr lang="en-US" altLang="zh-CN" sz="1400" noProof="1"/>
          </a:p>
        </p:txBody>
      </p:sp>
      <p:sp>
        <p:nvSpPr>
          <p:cNvPr id="30" name="nav-2">
            <a:extLst>
              <a:ext uri="{FF2B5EF4-FFF2-40B4-BE49-F238E27FC236}">
                <a16:creationId xmlns:a16="http://schemas.microsoft.com/office/drawing/2014/main" id="{53C52373-7994-057F-20D7-B3DDA6A90858}"/>
              </a:ext>
            </a:extLst>
          </p:cNvPr>
          <p:cNvSpPr txBox="1"/>
          <p:nvPr/>
        </p:nvSpPr>
        <p:spPr>
          <a:xfrm>
            <a:off x="85090" y="3205480"/>
            <a:ext cx="981710" cy="3086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zh-CN" altLang="en-US" sz="1400" noProof="1">
                <a:solidFill>
                  <a:srgbClr val="808080"/>
                </a:solidFill>
                <a:latin typeface="阿里巴巴普惠体 R"/>
              </a:rPr>
              <a:t>具体工作</a:t>
            </a:r>
            <a:endParaRPr lang="en-US" altLang="zh-CN" sz="1400" noProof="1">
              <a:solidFill>
                <a:srgbClr val="808080"/>
              </a:solidFill>
              <a:latin typeface="阿里巴巴普惠体 R"/>
            </a:endParaRPr>
          </a:p>
        </p:txBody>
      </p:sp>
      <p:sp>
        <p:nvSpPr>
          <p:cNvPr id="32" name="nav-3">
            <a:extLst>
              <a:ext uri="{FF2B5EF4-FFF2-40B4-BE49-F238E27FC236}">
                <a16:creationId xmlns:a16="http://schemas.microsoft.com/office/drawing/2014/main" id="{F3070414-FC96-F27A-21AB-6D3432DA3050}"/>
              </a:ext>
            </a:extLst>
          </p:cNvPr>
          <p:cNvSpPr txBox="1"/>
          <p:nvPr/>
        </p:nvSpPr>
        <p:spPr>
          <a:xfrm>
            <a:off x="85090" y="3862070"/>
            <a:ext cx="981710" cy="3086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noProof="1">
                <a:latin typeface="阿里巴巴普惠体 R"/>
                <a:ea typeface="阿里巴巴普惠体 R"/>
              </a:rPr>
              <a:t>研究计划</a:t>
            </a:r>
            <a:endParaRPr lang="en-US" sz="140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sq-00"/>
          <p:cNvSpPr/>
          <p:nvPr/>
        </p:nvSpPr>
        <p:spPr>
          <a:xfrm>
            <a:off x="486410" y="201930"/>
            <a:ext cx="114300" cy="114300"/>
          </a:xfrm>
          <a:prstGeom prst="rect">
            <a:avLst/>
          </a:prstGeom>
          <a:solidFill>
            <a:srgbClr val="122E66"/>
          </a:solidFill>
          <a:ln>
            <a:noFill/>
          </a:ln>
        </p:spPr>
      </p:sp>
      <p:sp>
        <p:nvSpPr>
          <p:cNvPr id="3" name="fsq-01"/>
          <p:cNvSpPr/>
          <p:nvPr/>
        </p:nvSpPr>
        <p:spPr>
          <a:xfrm>
            <a:off x="486410" y="347980"/>
            <a:ext cx="114300" cy="114300"/>
          </a:xfrm>
          <a:prstGeom prst="rect">
            <a:avLst/>
          </a:prstGeom>
          <a:solidFill>
            <a:srgbClr val="122E66"/>
          </a:solidFill>
          <a:ln>
            <a:noFill/>
          </a:ln>
        </p:spPr>
      </p:sp>
      <p:sp>
        <p:nvSpPr>
          <p:cNvPr id="4" name="fsq-02"/>
          <p:cNvSpPr/>
          <p:nvPr/>
        </p:nvSpPr>
        <p:spPr>
          <a:xfrm>
            <a:off x="486410" y="494030"/>
            <a:ext cx="114300" cy="114300"/>
          </a:xfrm>
          <a:prstGeom prst="rect">
            <a:avLst/>
          </a:prstGeom>
          <a:solidFill>
            <a:srgbClr val="122E66"/>
          </a:solidFill>
          <a:ln>
            <a:noFill/>
          </a:ln>
        </p:spPr>
      </p:sp>
      <p:sp>
        <p:nvSpPr>
          <p:cNvPr id="5" name="fsq-10"/>
          <p:cNvSpPr/>
          <p:nvPr/>
        </p:nvSpPr>
        <p:spPr>
          <a:xfrm>
            <a:off x="641350" y="201930"/>
            <a:ext cx="114300" cy="114300"/>
          </a:xfrm>
          <a:prstGeom prst="rect">
            <a:avLst/>
          </a:prstGeom>
          <a:solidFill>
            <a:srgbClr val="122E66"/>
          </a:solidFill>
          <a:ln>
            <a:noFill/>
          </a:ln>
        </p:spPr>
      </p:sp>
      <p:sp>
        <p:nvSpPr>
          <p:cNvPr id="6" name="fsq-11"/>
          <p:cNvSpPr/>
          <p:nvPr/>
        </p:nvSpPr>
        <p:spPr>
          <a:xfrm>
            <a:off x="641350" y="347980"/>
            <a:ext cx="114300" cy="114300"/>
          </a:xfrm>
          <a:prstGeom prst="rect">
            <a:avLst/>
          </a:prstGeom>
          <a:solidFill>
            <a:srgbClr val="122E66"/>
          </a:solidFill>
          <a:ln>
            <a:noFill/>
          </a:ln>
        </p:spPr>
      </p:sp>
      <p:sp>
        <p:nvSpPr>
          <p:cNvPr id="7" name="fsq-12"/>
          <p:cNvSpPr/>
          <p:nvPr/>
        </p:nvSpPr>
        <p:spPr>
          <a:xfrm>
            <a:off x="641350" y="494030"/>
            <a:ext cx="114300" cy="114300"/>
          </a:xfrm>
          <a:prstGeom prst="rect">
            <a:avLst/>
          </a:prstGeom>
          <a:solidFill>
            <a:srgbClr val="122E66"/>
          </a:solidFill>
          <a:ln>
            <a:noFill/>
          </a:ln>
        </p:spPr>
      </p:sp>
      <p:sp>
        <p:nvSpPr>
          <p:cNvPr id="8" name="fsq-20"/>
          <p:cNvSpPr/>
          <p:nvPr/>
        </p:nvSpPr>
        <p:spPr>
          <a:xfrm>
            <a:off x="796290" y="201930"/>
            <a:ext cx="114300" cy="114300"/>
          </a:xfrm>
          <a:prstGeom prst="rect">
            <a:avLst/>
          </a:prstGeom>
          <a:solidFill>
            <a:srgbClr val="122E66"/>
          </a:solidFill>
          <a:ln>
            <a:noFill/>
          </a:ln>
        </p:spPr>
      </p:sp>
      <p:sp>
        <p:nvSpPr>
          <p:cNvPr id="9" name="fsq-21"/>
          <p:cNvSpPr/>
          <p:nvPr/>
        </p:nvSpPr>
        <p:spPr>
          <a:xfrm>
            <a:off x="796290" y="347980"/>
            <a:ext cx="114300" cy="114300"/>
          </a:xfrm>
          <a:prstGeom prst="rect">
            <a:avLst/>
          </a:prstGeom>
          <a:solidFill>
            <a:srgbClr val="122E66"/>
          </a:solidFill>
          <a:ln>
            <a:noFill/>
          </a:ln>
        </p:spPr>
      </p:sp>
      <p:sp>
        <p:nvSpPr>
          <p:cNvPr id="10" name="fsq-22"/>
          <p:cNvSpPr/>
          <p:nvPr/>
        </p:nvSpPr>
        <p:spPr>
          <a:xfrm>
            <a:off x="796290" y="494030"/>
            <a:ext cx="114300" cy="114300"/>
          </a:xfrm>
          <a:prstGeom prst="rect">
            <a:avLst/>
          </a:prstGeom>
          <a:solidFill>
            <a:srgbClr val="122E66"/>
          </a:solidFill>
          <a:ln>
            <a:noFill/>
          </a:ln>
        </p:spPr>
      </p:sp>
      <p:sp>
        <p:nvSpPr>
          <p:cNvPr id="11" name="flogo"/>
          <p:cNvSpPr/>
          <p:nvPr/>
        </p:nvSpPr>
        <p:spPr>
          <a:xfrm>
            <a:off x="10496550" y="6350"/>
            <a:ext cx="1695450" cy="1375410"/>
          </a:xfrm>
          <a:custGeom>
            <a:avLst/>
            <a:gdLst/>
            <a:ahLst/>
            <a:cxnLst/>
            <a:rect l="l" t="t" r="r" b="b"/>
            <a:pathLst>
              <a:path w="2036266" h="1623111">
                <a:moveTo>
                  <a:pt x="0" y="0"/>
                </a:moveTo>
                <a:lnTo>
                  <a:pt x="2036266" y="0"/>
                </a:lnTo>
                <a:lnTo>
                  <a:pt x="2036266" y="1623111"/>
                </a:lnTo>
                <a:lnTo>
                  <a:pt x="0" y="16231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</p:spPr>
      </p:sp>
      <p:sp>
        <p:nvSpPr>
          <p:cNvPr id="12" name="fband"/>
          <p:cNvSpPr/>
          <p:nvPr/>
        </p:nvSpPr>
        <p:spPr>
          <a:xfrm>
            <a:off x="-11430" y="1790700"/>
            <a:ext cx="12214860" cy="3276600"/>
          </a:xfrm>
          <a:prstGeom prst="rect">
            <a:avLst/>
          </a:prstGeom>
          <a:solidFill>
            <a:srgbClr val="122E66"/>
          </a:solidFill>
          <a:ln>
            <a:noFill/>
          </a:ln>
        </p:spPr>
      </p:sp>
      <p:sp>
        <p:nvSpPr>
          <p:cNvPr id="13" name="f-line1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eyJ2aWV3Qm94IjpbOTYwLDFdLCJwb2ludHMiOiIwLDAuNSA5NjAsMC41IiwiY3VydmUiOiJzaGFycCJ9</pptd:line>
              </p:ext>
            </p:extLst>
          </p:nvPr>
        </p:nvSpPr>
        <p:spPr>
          <a:xfrm>
            <a:off x="0" y="4941570"/>
            <a:ext cx="12192000" cy="12700"/>
          </a:xfrm>
          <a:custGeom>
            <a:avLst/>
            <a:gdLst/>
            <a:ahLst/>
            <a:cxnLst/>
            <a:rect l="l" t="t" r="r" b="b"/>
            <a:pathLst>
              <a:path w="960" h="1">
                <a:moveTo>
                  <a:pt x="0" y="1"/>
                </a:moveTo>
                <a:lnTo>
                  <a:pt x="960" y="1"/>
                </a:lnTo>
              </a:path>
            </a:pathLst>
          </a:custGeom>
          <a:noFill/>
          <a:ln w="34925">
            <a:solidFill>
              <a:srgbClr val="FFFFFF"/>
            </a:solidFill>
          </a:ln>
        </p:spPr>
      </p:sp>
      <p:sp>
        <p:nvSpPr>
          <p:cNvPr id="14" name="f-line2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eyJ2aWV3Qm94IjpbOTYyLjksMV0sInBvaW50cyI6IjAsMC41IDk2Mi45LDAuNSIsImN1cnZlIjoic2hhcnAifQ</pptd:line>
              </p:ext>
            </p:extLst>
          </p:nvPr>
        </p:nvSpPr>
        <p:spPr>
          <a:xfrm>
            <a:off x="-11430" y="1916430"/>
            <a:ext cx="12228830" cy="12700"/>
          </a:xfrm>
          <a:custGeom>
            <a:avLst/>
            <a:gdLst/>
            <a:ahLst/>
            <a:cxnLst/>
            <a:rect l="l" t="t" r="r" b="b"/>
            <a:pathLst>
              <a:path w="963" h="1">
                <a:moveTo>
                  <a:pt x="0" y="1"/>
                </a:moveTo>
                <a:lnTo>
                  <a:pt x="963" y="1"/>
                </a:lnTo>
              </a:path>
            </a:pathLst>
          </a:custGeom>
          <a:noFill/>
          <a:ln w="34925">
            <a:solidFill>
              <a:srgbClr val="FFFFFF"/>
            </a:solidFill>
          </a:ln>
        </p:spPr>
      </p:sp>
      <p:sp>
        <p:nvSpPr>
          <p:cNvPr id="15" name="f-title"/>
          <p:cNvSpPr txBox="1"/>
          <p:nvPr/>
        </p:nvSpPr>
        <p:spPr>
          <a:xfrm>
            <a:off x="2345690" y="3084407"/>
            <a:ext cx="7768590" cy="831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5400" b="1" kern="0" spc="600" noProof="1">
                <a:solidFill>
                  <a:srgbClr val="FFFFFF"/>
                </a:solidFill>
                <a:latin typeface="Calibri"/>
                <a:ea typeface="Calibri"/>
              </a:rPr>
              <a:t>恳请老师 批评指正</a:t>
            </a:r>
            <a:endParaRPr lang="en-US" sz="54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E58A3"/>
      </a:accent1>
      <a:accent2>
        <a:srgbClr val="2673B7"/>
      </a:accent2>
      <a:accent3>
        <a:srgbClr val="122E66"/>
      </a:accent3>
      <a:accent4>
        <a:srgbClr val="4C7CA0"/>
      </a:accent4>
      <a:accent5>
        <a:srgbClr val="5E7A86"/>
      </a:accent5>
      <a:accent6>
        <a:srgbClr val="D9D9D9"/>
      </a:accent6>
      <a:hlink>
        <a:srgbClr val="F84D4D"/>
      </a:hlink>
      <a:folHlink>
        <a:srgbClr val="BFBFBF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</TotalTime>
  <Words>1395</Words>
  <Application>Microsoft Office PowerPoint</Application>
  <PresentationFormat>宽屏</PresentationFormat>
  <Paragraphs>189</Paragraphs>
  <Slides>13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OPPOSans B</vt:lpstr>
      <vt:lpstr>OPPOSans H</vt:lpstr>
      <vt:lpstr>OPPOSans L</vt:lpstr>
      <vt:lpstr>OPPOSans M</vt:lpstr>
      <vt:lpstr>OPPOSans R</vt:lpstr>
      <vt:lpstr>阿里巴巴普惠体 B</vt:lpstr>
      <vt:lpstr>阿里巴巴普惠体 R</vt:lpstr>
      <vt:lpstr>等线</vt:lpstr>
      <vt:lpstr>Arial</vt:lpstr>
      <vt:lpstr>Calibri</vt:lpstr>
      <vt:lpstr>PPTD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子任务拆解与大小模型路由</dc:title>
  <dc:subject>子任务拆解与大小模型路由</dc:subject>
  <dc:creator>Kimi</dc:creator>
  <cp:lastModifiedBy>一博 苏</cp:lastModifiedBy>
  <cp:revision>132</cp:revision>
  <dcterms:modified xsi:type="dcterms:W3CDTF">2026-08-13T02:27:35Z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子任务拆解与大小模型路由","ContentProducer":"001191110108MACG2KBH8F10000","ProduceID":"report","ReservedCode1":"","ContentPropagator":"001191110108MACG2KBH8F20000","PropagateID":"agent:main:main:conversation:368ad000-67b3-4c56-a2f1-db5239c983be","ReservedCode2":""}</vt:lpwstr>
  </property>
</Properties>
</file>